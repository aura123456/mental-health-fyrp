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slideLayouts/slideLayout77.xml" ContentType="application/vnd.openxmlformats-officedocument.presentationml.slideLayout+xml"/>
  <Override PartName="/ppt/theme/theme5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736" r:id="rId2"/>
    <p:sldMasterId id="2147483739" r:id="rId3"/>
    <p:sldMasterId id="2147483754" r:id="rId4"/>
    <p:sldMasterId id="2147483767" r:id="rId5"/>
    <p:sldMasterId id="2147483769" r:id="rId6"/>
  </p:sldMasterIdLst>
  <p:notesMasterIdLst>
    <p:notesMasterId r:id="rId37"/>
  </p:notesMasterIdLst>
  <p:sldIdLst>
    <p:sldId id="256" r:id="rId7"/>
    <p:sldId id="257" r:id="rId8"/>
    <p:sldId id="258" r:id="rId9"/>
    <p:sldId id="265" r:id="rId10"/>
    <p:sldId id="259" r:id="rId11"/>
    <p:sldId id="275" r:id="rId12"/>
    <p:sldId id="267" r:id="rId13"/>
    <p:sldId id="276" r:id="rId14"/>
    <p:sldId id="273" r:id="rId15"/>
    <p:sldId id="269" r:id="rId16"/>
    <p:sldId id="270" r:id="rId17"/>
    <p:sldId id="280" r:id="rId18"/>
    <p:sldId id="277" r:id="rId19"/>
    <p:sldId id="278" r:id="rId20"/>
    <p:sldId id="279" r:id="rId21"/>
    <p:sldId id="281" r:id="rId22"/>
    <p:sldId id="282" r:id="rId23"/>
    <p:sldId id="283" r:id="rId24"/>
    <p:sldId id="284" r:id="rId25"/>
    <p:sldId id="286" r:id="rId26"/>
    <p:sldId id="287" r:id="rId27"/>
    <p:sldId id="289" r:id="rId28"/>
    <p:sldId id="290" r:id="rId29"/>
    <p:sldId id="291" r:id="rId30"/>
    <p:sldId id="292" r:id="rId31"/>
    <p:sldId id="293" r:id="rId32"/>
    <p:sldId id="271" r:id="rId33"/>
    <p:sldId id="294" r:id="rId34"/>
    <p:sldId id="264" r:id="rId35"/>
    <p:sldId id="263" r:id="rId36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viewProps" Target="view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0442C-2FB1-4A64-9ED0-5ED0E5F11296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CDAEB-C914-41FB-BEED-34C34DB2D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35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402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291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159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87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633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73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467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516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806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377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386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908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569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443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://bit.ly/2Tynxth" TargetMode="Externa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0;p2"/>
          <p:cNvGrpSpPr/>
          <p:nvPr/>
        </p:nvGrpSpPr>
        <p:grpSpPr>
          <a:xfrm>
            <a:off x="0" y="-11"/>
            <a:ext cx="9144003" cy="5143511"/>
            <a:chOff x="0" y="-11"/>
            <a:chExt cx="9144003" cy="5143511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 cstate="print">
              <a:alphaModFix amt="40000"/>
            </a:blip>
            <a:stretch>
              <a:fillRect/>
            </a:stretch>
          </p:blipFill>
          <p:spPr>
            <a:xfrm>
              <a:off x="0" y="-11"/>
              <a:ext cx="9144003" cy="2397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8" y="0"/>
              <a:ext cx="7717135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87850" y="2102909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187800" y="929450"/>
            <a:ext cx="27684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87850" y="347531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-6080572">
            <a:off x="7357825" y="-650032"/>
            <a:ext cx="1859881" cy="202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8;p5"/>
          <p:cNvGrpSpPr/>
          <p:nvPr/>
        </p:nvGrpSpPr>
        <p:grpSpPr>
          <a:xfrm>
            <a:off x="-2736154" y="-2532646"/>
            <a:ext cx="9665434" cy="12031040"/>
            <a:chOff x="-2736154" y="-2532646"/>
            <a:chExt cx="9665434" cy="12031040"/>
          </a:xfrm>
        </p:grpSpPr>
        <p:pic>
          <p:nvPicPr>
            <p:cNvPr id="29" name="Google Shape;29;p5"/>
            <p:cNvPicPr preferRelativeResize="0"/>
            <p:nvPr/>
          </p:nvPicPr>
          <p:blipFill>
            <a:blip r:embed="rId3" cstate="print">
              <a:alphaModFix/>
            </a:blip>
            <a:stretch>
              <a:fillRect/>
            </a:stretch>
          </p:blipFill>
          <p:spPr>
            <a:xfrm rot="6384532">
              <a:off x="-1809626" y="-2542696"/>
              <a:ext cx="3232319" cy="4349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5"/>
            <p:cNvPicPr preferRelativeResize="0"/>
            <p:nvPr/>
          </p:nvPicPr>
          <p:blipFill>
            <a:blip r:embed="rId4" cstate="print">
              <a:alphaModFix amt="18000"/>
            </a:blip>
            <a:stretch>
              <a:fillRect/>
            </a:stretch>
          </p:blipFill>
          <p:spPr>
            <a:xfrm rot="10799995">
              <a:off x="2645630" y="2857270"/>
              <a:ext cx="4283650" cy="66411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290763" y="2337704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45638" y="2337688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290775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45650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39;p6"/>
          <p:cNvGrpSpPr/>
          <p:nvPr/>
        </p:nvGrpSpPr>
        <p:grpSpPr>
          <a:xfrm>
            <a:off x="50600" y="-1177774"/>
            <a:ext cx="9637306" cy="2466454"/>
            <a:chOff x="50600" y="-1177774"/>
            <a:chExt cx="9637306" cy="2466454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50600" y="-1177774"/>
              <a:ext cx="2253752" cy="222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4" cstate="print">
              <a:alphaModFix amt="26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3" cstate="print">
            <a:alphaModFix amt="40000"/>
          </a:blip>
          <a:stretch>
            <a:fillRect/>
          </a:stretch>
        </p:blipFill>
        <p:spPr>
          <a:xfrm rot="10800000" flipH="1">
            <a:off x="0" y="2745889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20000" y="1554150"/>
            <a:ext cx="4401600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;p8"/>
          <p:cNvGrpSpPr/>
          <p:nvPr/>
        </p:nvGrpSpPr>
        <p:grpSpPr>
          <a:xfrm>
            <a:off x="-1326274" y="222183"/>
            <a:ext cx="11453645" cy="6483616"/>
            <a:chOff x="-1326274" y="222183"/>
            <a:chExt cx="11453645" cy="6483616"/>
          </a:xfrm>
        </p:grpSpPr>
        <p:pic>
          <p:nvPicPr>
            <p:cNvPr id="50" name="Google Shape;50;p8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5" cstate="print">
              <a:alphaModFix/>
            </a:blip>
            <a:stretch>
              <a:fillRect/>
            </a:stretch>
          </p:blipFill>
          <p:spPr>
            <a:xfrm rot="-626902">
              <a:off x="-1012802" y="2777516"/>
              <a:ext cx="2756456" cy="3709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>
            <a:blip r:embed="rId6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9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 flipH="1">
            <a:off x="5176550" y="1294100"/>
            <a:ext cx="3252300" cy="121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 flipH="1">
            <a:off x="5176550" y="2664600"/>
            <a:ext cx="32523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307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20000" y="3883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3" cstate="print">
            <a:alphaModFix amt="48000"/>
          </a:blip>
          <a:stretch>
            <a:fillRect/>
          </a:stretch>
        </p:blipFill>
        <p:spPr>
          <a:xfrm rot="4861616">
            <a:off x="2643919" y="-1295605"/>
            <a:ext cx="3574490" cy="75703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68850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284000" y="3553300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71;p13"/>
          <p:cNvGrpSpPr/>
          <p:nvPr/>
        </p:nvGrpSpPr>
        <p:grpSpPr>
          <a:xfrm>
            <a:off x="-891002" y="-1228775"/>
            <a:ext cx="10578908" cy="2929874"/>
            <a:chOff x="-891002" y="-1228775"/>
            <a:chExt cx="10578908" cy="2929874"/>
          </a:xfrm>
        </p:grpSpPr>
        <p:pic>
          <p:nvPicPr>
            <p:cNvPr id="72" name="Google Shape;72;p13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3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/>
          </p:nvPr>
        </p:nvSpPr>
        <p:spPr>
          <a:xfrm>
            <a:off x="7200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2505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7200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/>
          </p:nvPr>
        </p:nvSpPr>
        <p:spPr>
          <a:xfrm>
            <a:off x="34038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5" hasCustomPrompt="1"/>
          </p:nvPr>
        </p:nvSpPr>
        <p:spPr>
          <a:xfrm>
            <a:off x="39343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34038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/>
          </p:nvPr>
        </p:nvSpPr>
        <p:spPr>
          <a:xfrm>
            <a:off x="60876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 hasCustomPrompt="1"/>
          </p:nvPr>
        </p:nvSpPr>
        <p:spPr>
          <a:xfrm>
            <a:off x="66181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0876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/>
          </p:nvPr>
        </p:nvSpPr>
        <p:spPr>
          <a:xfrm>
            <a:off x="7200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12505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7200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/>
          </p:nvPr>
        </p:nvSpPr>
        <p:spPr>
          <a:xfrm>
            <a:off x="34038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7" hasCustomPrompt="1"/>
          </p:nvPr>
        </p:nvSpPr>
        <p:spPr>
          <a:xfrm>
            <a:off x="39343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8"/>
          </p:nvPr>
        </p:nvSpPr>
        <p:spPr>
          <a:xfrm>
            <a:off x="34038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/>
          </p:nvPr>
        </p:nvSpPr>
        <p:spPr>
          <a:xfrm>
            <a:off x="60876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0" hasCustomPrompt="1"/>
          </p:nvPr>
        </p:nvSpPr>
        <p:spPr>
          <a:xfrm>
            <a:off x="66181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21"/>
          </p:nvPr>
        </p:nvSpPr>
        <p:spPr>
          <a:xfrm>
            <a:off x="60876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95;p14"/>
          <p:cNvGrpSpPr/>
          <p:nvPr/>
        </p:nvGrpSpPr>
        <p:grpSpPr>
          <a:xfrm rot="10800000" flipH="1">
            <a:off x="-1002602" y="2626046"/>
            <a:ext cx="10690508" cy="3876129"/>
            <a:chOff x="-1002602" y="-2587450"/>
            <a:chExt cx="10690508" cy="3876129"/>
          </a:xfrm>
        </p:grpSpPr>
        <p:pic>
          <p:nvPicPr>
            <p:cNvPr id="96" name="Google Shape;96;p14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02602" y="-258745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 rotWithShape="1">
            <a:blip r:embed="rId4" cstate="print">
              <a:alphaModFix amt="31000"/>
            </a:blip>
            <a:srcRect l="-115660" t="-15070" r="115660" b="15069"/>
            <a:stretch/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2117188"/>
            <a:ext cx="23364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2"/>
          </p:nvPr>
        </p:nvSpPr>
        <p:spPr>
          <a:xfrm>
            <a:off x="3980038" y="1027588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3" hasCustomPrompt="1"/>
          </p:nvPr>
        </p:nvSpPr>
        <p:spPr>
          <a:xfrm>
            <a:off x="3093426" y="10275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6216076" y="1027588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4"/>
          </p:nvPr>
        </p:nvSpPr>
        <p:spPr>
          <a:xfrm>
            <a:off x="3980038" y="2354195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5" hasCustomPrompt="1"/>
          </p:nvPr>
        </p:nvSpPr>
        <p:spPr>
          <a:xfrm>
            <a:off x="3093434" y="23541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6"/>
          </p:nvPr>
        </p:nvSpPr>
        <p:spPr>
          <a:xfrm>
            <a:off x="6216076" y="2354195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7"/>
          </p:nvPr>
        </p:nvSpPr>
        <p:spPr>
          <a:xfrm>
            <a:off x="3980038" y="3555390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8" hasCustomPrompt="1"/>
          </p:nvPr>
        </p:nvSpPr>
        <p:spPr>
          <a:xfrm>
            <a:off x="3091425" y="35553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9"/>
          </p:nvPr>
        </p:nvSpPr>
        <p:spPr>
          <a:xfrm>
            <a:off x="6216076" y="3555390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10;p15"/>
          <p:cNvGrpSpPr/>
          <p:nvPr/>
        </p:nvGrpSpPr>
        <p:grpSpPr>
          <a:xfrm flipH="1">
            <a:off x="-1390802" y="299725"/>
            <a:ext cx="11262196" cy="4113879"/>
            <a:chOff x="-1074490" y="299725"/>
            <a:chExt cx="11262196" cy="4113879"/>
          </a:xfrm>
        </p:grpSpPr>
        <p:pic>
          <p:nvPicPr>
            <p:cNvPr id="111" name="Google Shape;111;p15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74490" y="2997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5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965524" y="200285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 idx="2"/>
          </p:nvPr>
        </p:nvSpPr>
        <p:spPr>
          <a:xfrm>
            <a:off x="18883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 idx="3" hasCustomPrompt="1"/>
          </p:nvPr>
        </p:nvSpPr>
        <p:spPr>
          <a:xfrm>
            <a:off x="24189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1"/>
          </p:nvPr>
        </p:nvSpPr>
        <p:spPr>
          <a:xfrm>
            <a:off x="18883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 idx="4"/>
          </p:nvPr>
        </p:nvSpPr>
        <p:spPr>
          <a:xfrm>
            <a:off x="45721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5" hasCustomPrompt="1"/>
          </p:nvPr>
        </p:nvSpPr>
        <p:spPr>
          <a:xfrm>
            <a:off x="51027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6"/>
          </p:nvPr>
        </p:nvSpPr>
        <p:spPr>
          <a:xfrm>
            <a:off x="45721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7"/>
          </p:nvPr>
        </p:nvSpPr>
        <p:spPr>
          <a:xfrm>
            <a:off x="18883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8" hasCustomPrompt="1"/>
          </p:nvPr>
        </p:nvSpPr>
        <p:spPr>
          <a:xfrm>
            <a:off x="24189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9"/>
          </p:nvPr>
        </p:nvSpPr>
        <p:spPr>
          <a:xfrm>
            <a:off x="18883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 idx="13"/>
          </p:nvPr>
        </p:nvSpPr>
        <p:spPr>
          <a:xfrm>
            <a:off x="45721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14" hasCustomPrompt="1"/>
          </p:nvPr>
        </p:nvSpPr>
        <p:spPr>
          <a:xfrm>
            <a:off x="51027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5"/>
          </p:nvPr>
        </p:nvSpPr>
        <p:spPr>
          <a:xfrm>
            <a:off x="45721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-939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 flipH="1">
            <a:off x="2132450" y="1482875"/>
            <a:ext cx="4978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1"/>
          </p:nvPr>
        </p:nvSpPr>
        <p:spPr>
          <a:xfrm flipH="1">
            <a:off x="2132450" y="2389840"/>
            <a:ext cx="49785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34;p17"/>
          <p:cNvGrpSpPr/>
          <p:nvPr/>
        </p:nvGrpSpPr>
        <p:grpSpPr>
          <a:xfrm>
            <a:off x="0" y="-805349"/>
            <a:ext cx="9763800" cy="7934649"/>
            <a:chOff x="0" y="-805349"/>
            <a:chExt cx="9763800" cy="7934649"/>
          </a:xfrm>
        </p:grpSpPr>
        <p:pic>
          <p:nvPicPr>
            <p:cNvPr id="135" name="Google Shape;135;p17"/>
            <p:cNvPicPr preferRelativeResize="0"/>
            <p:nvPr/>
          </p:nvPicPr>
          <p:blipFill>
            <a:blip r:embed="rId3" cstate="print">
              <a:alphaModFix amt="21000"/>
            </a:blip>
            <a:stretch>
              <a:fillRect/>
            </a:stretch>
          </p:blipFill>
          <p:spPr>
            <a:xfrm rot="-5400000">
              <a:off x="-2349749" y="2349750"/>
              <a:ext cx="7129298" cy="2429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7"/>
            <p:cNvPicPr preferRelativeResize="0"/>
            <p:nvPr/>
          </p:nvPicPr>
          <p:blipFill>
            <a:blip r:embed="rId4" cstate="print">
              <a:alphaModFix amt="40000"/>
            </a:blip>
            <a:stretch>
              <a:fillRect/>
            </a:stretch>
          </p:blipFill>
          <p:spPr>
            <a:xfrm>
              <a:off x="7439551" y="-805349"/>
              <a:ext cx="2324250" cy="22947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 cstate="print">
            <a:alphaModFix amt="60000"/>
          </a:blip>
          <a:stretch>
            <a:fillRect/>
          </a:stretch>
        </p:blipFill>
        <p:spPr>
          <a:xfrm>
            <a:off x="-1029327" y="3181250"/>
            <a:ext cx="2881223" cy="292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 cstate="print">
            <a:alphaModFix/>
          </a:blip>
          <a:stretch>
            <a:fillRect/>
          </a:stretch>
        </p:blipFill>
        <p:spPr>
          <a:xfrm rot="9116214">
            <a:off x="7511526" y="565727"/>
            <a:ext cx="2981601" cy="401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44;p19"/>
          <p:cNvGrpSpPr/>
          <p:nvPr/>
        </p:nvGrpSpPr>
        <p:grpSpPr>
          <a:xfrm>
            <a:off x="-576577" y="-1474725"/>
            <a:ext cx="10363825" cy="2929874"/>
            <a:chOff x="-576577" y="-1227375"/>
            <a:chExt cx="10363825" cy="2929874"/>
          </a:xfrm>
        </p:grpSpPr>
        <p:pic>
          <p:nvPicPr>
            <p:cNvPr id="145" name="Google Shape;145;p19"/>
            <p:cNvPicPr preferRelativeResize="0"/>
            <p:nvPr/>
          </p:nvPicPr>
          <p:blipFill>
            <a:blip r:embed="rId3" cstate="print">
              <a:alphaModFix amt="52000"/>
            </a:blip>
            <a:stretch>
              <a:fillRect/>
            </a:stretch>
          </p:blipFill>
          <p:spPr>
            <a:xfrm flipH="1">
              <a:off x="7474223" y="-1184322"/>
              <a:ext cx="2313025" cy="251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9"/>
            <p:cNvPicPr preferRelativeResize="0"/>
            <p:nvPr/>
          </p:nvPicPr>
          <p:blipFill>
            <a:blip r:embed="rId4" cstate="print">
              <a:alphaModFix amt="57000"/>
            </a:blip>
            <a:stretch>
              <a:fillRect/>
            </a:stretch>
          </p:blipFill>
          <p:spPr>
            <a:xfrm>
              <a:off x="-576577" y="-12273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1;p20"/>
          <p:cNvGrpSpPr/>
          <p:nvPr/>
        </p:nvGrpSpPr>
        <p:grpSpPr>
          <a:xfrm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152" name="Google Shape;152;p2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0"/>
            <p:cNvPicPr preferRelativeResize="0"/>
            <p:nvPr/>
          </p:nvPicPr>
          <p:blipFill>
            <a:blip r:embed="rId4" cstate="print">
              <a:alphaModFix amt="47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7;p21"/>
          <p:cNvGrpSpPr/>
          <p:nvPr/>
        </p:nvGrpSpPr>
        <p:grpSpPr>
          <a:xfrm>
            <a:off x="-2260370" y="-3743099"/>
            <a:ext cx="14611870" cy="7885148"/>
            <a:chOff x="-2459845" y="-4046299"/>
            <a:chExt cx="14611870" cy="7885148"/>
          </a:xfrm>
        </p:grpSpPr>
        <p:pic>
          <p:nvPicPr>
            <p:cNvPr id="158" name="Google Shape;158;p21"/>
            <p:cNvPicPr preferRelativeResize="0"/>
            <p:nvPr/>
          </p:nvPicPr>
          <p:blipFill>
            <a:blip r:embed="rId3" cstate="print">
              <a:alphaModFix amt="32000"/>
            </a:blip>
            <a:stretch>
              <a:fillRect/>
            </a:stretch>
          </p:blipFill>
          <p:spPr>
            <a:xfrm rot="-10558877">
              <a:off x="-2298947" y="-1597926"/>
              <a:ext cx="3030302" cy="469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1"/>
            <p:cNvPicPr preferRelativeResize="0"/>
            <p:nvPr/>
          </p:nvPicPr>
          <p:blipFill>
            <a:blip r:embed="rId4" cstate="print">
              <a:alphaModFix amt="50000"/>
            </a:blip>
            <a:stretch>
              <a:fillRect/>
            </a:stretch>
          </p:blipFill>
          <p:spPr>
            <a:xfrm>
              <a:off x="8428901" y="-40462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237673" y="1775425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2" hasCustomPrompt="1"/>
          </p:nvPr>
        </p:nvSpPr>
        <p:spPr>
          <a:xfrm>
            <a:off x="2474011" y="1592863"/>
            <a:ext cx="2112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4237673" y="314953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 cstate="print">
            <a:alphaModFix amt="49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7"/>
            <a:ext cx="9144003" cy="609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4" cstate="print">
            <a:alphaModFix amt="44000"/>
          </a:blip>
          <a:stretch>
            <a:fillRect/>
          </a:stretch>
        </p:blipFill>
        <p:spPr>
          <a:xfrm>
            <a:off x="-844998" y="-1237050"/>
            <a:ext cx="4705600" cy="47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87557" y="1850495"/>
            <a:ext cx="29718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 hasCustomPrompt="1"/>
          </p:nvPr>
        </p:nvSpPr>
        <p:spPr>
          <a:xfrm>
            <a:off x="5091347" y="1436750"/>
            <a:ext cx="2165100" cy="18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1"/>
          </p:nvPr>
        </p:nvSpPr>
        <p:spPr>
          <a:xfrm>
            <a:off x="1892557" y="3192962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80;p25"/>
          <p:cNvGrpSpPr/>
          <p:nvPr/>
        </p:nvGrpSpPr>
        <p:grpSpPr>
          <a:xfrm>
            <a:off x="7353187" y="285158"/>
            <a:ext cx="1435761" cy="1460042"/>
            <a:chOff x="557362" y="374583"/>
            <a:chExt cx="1435761" cy="1460042"/>
          </a:xfrm>
        </p:grpSpPr>
        <p:pic>
          <p:nvPicPr>
            <p:cNvPr id="181" name="Google Shape;181;p25"/>
            <p:cNvPicPr preferRelativeResize="0"/>
            <p:nvPr/>
          </p:nvPicPr>
          <p:blipFill>
            <a:blip r:embed="rId4" cstate="print">
              <a:alphaModFix amt="49000"/>
            </a:blip>
            <a:stretch>
              <a:fillRect/>
            </a:stretch>
          </p:blipFill>
          <p:spPr>
            <a:xfrm>
              <a:off x="715100" y="5350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5"/>
            <p:cNvPicPr preferRelativeResize="0"/>
            <p:nvPr/>
          </p:nvPicPr>
          <p:blipFill>
            <a:blip r:embed="rId5" cstate="print">
              <a:alphaModFix amt="44000"/>
            </a:blip>
            <a:stretch>
              <a:fillRect/>
            </a:stretch>
          </p:blipFill>
          <p:spPr>
            <a:xfrm flipH="1">
              <a:off x="557362" y="3745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655850" y="1107700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2" hasCustomPrompt="1"/>
          </p:nvPr>
        </p:nvSpPr>
        <p:spPr>
          <a:xfrm>
            <a:off x="2996500" y="314725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1"/>
          </p:nvPr>
        </p:nvSpPr>
        <p:spPr>
          <a:xfrm>
            <a:off x="3187750" y="2483994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992510" y="1565802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 idx="2" hasCustomPrompt="1"/>
          </p:nvPr>
        </p:nvSpPr>
        <p:spPr>
          <a:xfrm>
            <a:off x="2265764" y="151451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"/>
          </p:nvPr>
        </p:nvSpPr>
        <p:spPr>
          <a:xfrm>
            <a:off x="3992510" y="2929678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94;p27"/>
          <p:cNvGrpSpPr/>
          <p:nvPr/>
        </p:nvGrpSpPr>
        <p:grpSpPr>
          <a:xfrm>
            <a:off x="-663524" y="-279925"/>
            <a:ext cx="5639853" cy="7085221"/>
            <a:chOff x="-663524" y="-279925"/>
            <a:chExt cx="5639853" cy="7085221"/>
          </a:xfrm>
        </p:grpSpPr>
        <p:pic>
          <p:nvPicPr>
            <p:cNvPr id="195" name="Google Shape;195;p27"/>
            <p:cNvPicPr preferRelativeResize="0"/>
            <p:nvPr/>
          </p:nvPicPr>
          <p:blipFill>
            <a:blip r:embed="rId3" cstate="print">
              <a:alphaModFix amt="26000"/>
            </a:blip>
            <a:stretch>
              <a:fillRect/>
            </a:stretch>
          </p:blipFill>
          <p:spPr>
            <a:xfrm rot="8851044" flipH="1">
              <a:off x="905324" y="16405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7"/>
            <p:cNvPicPr preferRelativeResize="0"/>
            <p:nvPr/>
          </p:nvPicPr>
          <p:blipFill>
            <a:blip r:embed="rId4" cstate="print">
              <a:alphaModFix amt="37000"/>
            </a:blip>
            <a:stretch>
              <a:fillRect/>
            </a:stretch>
          </p:blipFill>
          <p:spPr>
            <a:xfrm>
              <a:off x="1578325" y="-229924"/>
              <a:ext cx="660099" cy="671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7"/>
            <p:cNvPicPr preferRelativeResize="0"/>
            <p:nvPr/>
          </p:nvPicPr>
          <p:blipFill>
            <a:blip r:embed="rId5" cstate="print">
              <a:alphaModFix amt="33000"/>
            </a:blip>
            <a:stretch>
              <a:fillRect/>
            </a:stretch>
          </p:blipFill>
          <p:spPr>
            <a:xfrm flipH="1">
              <a:off x="-663524" y="-279925"/>
              <a:ext cx="1947024" cy="19800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1976457" y="1562421"/>
            <a:ext cx="31509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 idx="2" hasCustomPrompt="1"/>
          </p:nvPr>
        </p:nvSpPr>
        <p:spPr>
          <a:xfrm>
            <a:off x="3748582" y="1549507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2155557" y="2933311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3865000" y="357532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2462250" y="1347275"/>
            <a:ext cx="5967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 cstate="print">
            <a:alphaModFix amt="21000"/>
          </a:blip>
          <a:stretch>
            <a:fillRect/>
          </a:stretch>
        </p:blipFill>
        <p:spPr>
          <a:xfrm rot="1586418">
            <a:off x="-764950" y="60749"/>
            <a:ext cx="3165078" cy="490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8;p29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209" name="Google Shape;209;p29"/>
            <p:cNvPicPr preferRelativeResize="0"/>
            <p:nvPr/>
          </p:nvPicPr>
          <p:blipFill>
            <a:blip r:embed="rId3" cstate="print">
              <a:alphaModFix amt="44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>
            <a:spLocks noGrp="1"/>
          </p:cNvSpPr>
          <p:nvPr>
            <p:ph type="subTitle" idx="1"/>
          </p:nvPr>
        </p:nvSpPr>
        <p:spPr>
          <a:xfrm>
            <a:off x="720000" y="3603150"/>
            <a:ext cx="2586600" cy="1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20000" y="23287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3" cstate="print">
            <a:alphaModFix amt="17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>
            <a:spLocks noGrp="1"/>
          </p:cNvSpPr>
          <p:nvPr>
            <p:ph type="subTitle" idx="1"/>
          </p:nvPr>
        </p:nvSpPr>
        <p:spPr>
          <a:xfrm>
            <a:off x="715100" y="2935500"/>
            <a:ext cx="31806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715100" y="1341800"/>
            <a:ext cx="3751800" cy="13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4263100" y="2740825"/>
            <a:ext cx="38208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4263100" y="1871650"/>
            <a:ext cx="3820800" cy="6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>
            <a:spLocks noGrp="1"/>
          </p:cNvSpPr>
          <p:nvPr>
            <p:ph type="subTitle" idx="1"/>
          </p:nvPr>
        </p:nvSpPr>
        <p:spPr>
          <a:xfrm>
            <a:off x="715100" y="1274025"/>
            <a:ext cx="7713900" cy="28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"/>
          </p:nvPr>
        </p:nvSpPr>
        <p:spPr>
          <a:xfrm>
            <a:off x="715100" y="1175650"/>
            <a:ext cx="40047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2"/>
          </p:nvPr>
        </p:nvSpPr>
        <p:spPr>
          <a:xfrm>
            <a:off x="4994900" y="1175650"/>
            <a:ext cx="34290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-753722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>
            <a:spLocks noGrp="1"/>
          </p:cNvSpPr>
          <p:nvPr>
            <p:ph type="subTitle" idx="1"/>
          </p:nvPr>
        </p:nvSpPr>
        <p:spPr>
          <a:xfrm>
            <a:off x="1290763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2"/>
          </p:nvPr>
        </p:nvSpPr>
        <p:spPr>
          <a:xfrm>
            <a:off x="4945638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3"/>
          </p:nvPr>
        </p:nvSpPr>
        <p:spPr>
          <a:xfrm>
            <a:off x="1290775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4"/>
          </p:nvPr>
        </p:nvSpPr>
        <p:spPr>
          <a:xfrm>
            <a:off x="4945650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44;p35"/>
          <p:cNvGrpSpPr/>
          <p:nvPr/>
        </p:nvGrpSpPr>
        <p:grpSpPr>
          <a:xfrm flipH="1">
            <a:off x="-1059374" y="202758"/>
            <a:ext cx="9874808" cy="5928742"/>
            <a:chOff x="252562" y="222183"/>
            <a:chExt cx="9874808" cy="5928742"/>
          </a:xfrm>
        </p:grpSpPr>
        <p:pic>
          <p:nvPicPr>
            <p:cNvPr id="245" name="Google Shape;245;p35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5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5"/>
            <p:cNvPicPr preferRelativeResize="0"/>
            <p:nvPr/>
          </p:nvPicPr>
          <p:blipFill>
            <a:blip r:embed="rId5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4010875" y="1307100"/>
            <a:ext cx="4419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996263" y="3841453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2638050" y="1792100"/>
            <a:ext cx="3867900" cy="25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2638050" y="840725"/>
            <a:ext cx="27057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3620328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7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6802252" y="-21061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>
            <a:spLocks noGrp="1"/>
          </p:cNvSpPr>
          <p:nvPr>
            <p:ph type="subTitle" idx="1"/>
          </p:nvPr>
        </p:nvSpPr>
        <p:spPr>
          <a:xfrm>
            <a:off x="715100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subTitle" idx="2"/>
          </p:nvPr>
        </p:nvSpPr>
        <p:spPr>
          <a:xfrm>
            <a:off x="4638325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7" name="Google Shape;267;p38"/>
          <p:cNvSpPr txBox="1">
            <a:spLocks noGrp="1"/>
          </p:cNvSpPr>
          <p:nvPr>
            <p:ph type="subTitle" idx="1"/>
          </p:nvPr>
        </p:nvSpPr>
        <p:spPr>
          <a:xfrm>
            <a:off x="1881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 idx="2" hasCustomPrompt="1"/>
          </p:nvPr>
        </p:nvSpPr>
        <p:spPr>
          <a:xfrm>
            <a:off x="842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8"/>
          <p:cNvSpPr txBox="1">
            <a:spLocks noGrp="1"/>
          </p:cNvSpPr>
          <p:nvPr>
            <p:ph type="subTitle" idx="3"/>
          </p:nvPr>
        </p:nvSpPr>
        <p:spPr>
          <a:xfrm>
            <a:off x="1881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38"/>
          <p:cNvSpPr txBox="1">
            <a:spLocks noGrp="1"/>
          </p:cNvSpPr>
          <p:nvPr>
            <p:ph type="title" idx="4" hasCustomPrompt="1"/>
          </p:nvPr>
        </p:nvSpPr>
        <p:spPr>
          <a:xfrm>
            <a:off x="842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38"/>
          <p:cNvSpPr txBox="1">
            <a:spLocks noGrp="1"/>
          </p:cNvSpPr>
          <p:nvPr>
            <p:ph type="subTitle" idx="5"/>
          </p:nvPr>
        </p:nvSpPr>
        <p:spPr>
          <a:xfrm>
            <a:off x="1881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38"/>
          <p:cNvSpPr txBox="1">
            <a:spLocks noGrp="1"/>
          </p:cNvSpPr>
          <p:nvPr>
            <p:ph type="title" idx="6" hasCustomPrompt="1"/>
          </p:nvPr>
        </p:nvSpPr>
        <p:spPr>
          <a:xfrm>
            <a:off x="842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38"/>
          <p:cNvSpPr txBox="1">
            <a:spLocks noGrp="1"/>
          </p:cNvSpPr>
          <p:nvPr>
            <p:ph type="subTitle" idx="7"/>
          </p:nvPr>
        </p:nvSpPr>
        <p:spPr>
          <a:xfrm>
            <a:off x="1881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title" idx="8" hasCustomPrompt="1"/>
          </p:nvPr>
        </p:nvSpPr>
        <p:spPr>
          <a:xfrm>
            <a:off x="842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8"/>
          <p:cNvSpPr txBox="1">
            <a:spLocks noGrp="1"/>
          </p:cNvSpPr>
          <p:nvPr>
            <p:ph type="subTitle" idx="9"/>
          </p:nvPr>
        </p:nvSpPr>
        <p:spPr>
          <a:xfrm>
            <a:off x="5770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 idx="13" hasCustomPrompt="1"/>
          </p:nvPr>
        </p:nvSpPr>
        <p:spPr>
          <a:xfrm>
            <a:off x="4731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38"/>
          <p:cNvSpPr txBox="1">
            <a:spLocks noGrp="1"/>
          </p:cNvSpPr>
          <p:nvPr>
            <p:ph type="subTitle" idx="14"/>
          </p:nvPr>
        </p:nvSpPr>
        <p:spPr>
          <a:xfrm>
            <a:off x="5770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 idx="15" hasCustomPrompt="1"/>
          </p:nvPr>
        </p:nvSpPr>
        <p:spPr>
          <a:xfrm>
            <a:off x="4731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8"/>
          <p:cNvSpPr txBox="1">
            <a:spLocks noGrp="1"/>
          </p:cNvSpPr>
          <p:nvPr>
            <p:ph type="subTitle" idx="16"/>
          </p:nvPr>
        </p:nvSpPr>
        <p:spPr>
          <a:xfrm>
            <a:off x="5770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 idx="17" hasCustomPrompt="1"/>
          </p:nvPr>
        </p:nvSpPr>
        <p:spPr>
          <a:xfrm>
            <a:off x="4731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18"/>
          </p:nvPr>
        </p:nvSpPr>
        <p:spPr>
          <a:xfrm>
            <a:off x="5770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19" hasCustomPrompt="1"/>
          </p:nvPr>
        </p:nvSpPr>
        <p:spPr>
          <a:xfrm>
            <a:off x="4731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>
            <a:spLocks noGrp="1"/>
          </p:cNvSpPr>
          <p:nvPr>
            <p:ph type="subTitle" idx="1"/>
          </p:nvPr>
        </p:nvSpPr>
        <p:spPr>
          <a:xfrm>
            <a:off x="715100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39"/>
          <p:cNvSpPr txBox="1">
            <a:spLocks noGrp="1"/>
          </p:cNvSpPr>
          <p:nvPr>
            <p:ph type="subTitle" idx="2"/>
          </p:nvPr>
        </p:nvSpPr>
        <p:spPr>
          <a:xfrm>
            <a:off x="4638325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 idx="3"/>
          </p:nvPr>
        </p:nvSpPr>
        <p:spPr>
          <a:xfrm>
            <a:off x="715100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title" idx="4"/>
          </p:nvPr>
        </p:nvSpPr>
        <p:spPr>
          <a:xfrm>
            <a:off x="4638325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7200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1"/>
          </p:nvPr>
        </p:nvSpPr>
        <p:spPr>
          <a:xfrm>
            <a:off x="7200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title" idx="2"/>
          </p:nvPr>
        </p:nvSpPr>
        <p:spPr>
          <a:xfrm>
            <a:off x="34038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subTitle" idx="3"/>
          </p:nvPr>
        </p:nvSpPr>
        <p:spPr>
          <a:xfrm>
            <a:off x="34038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 idx="4"/>
          </p:nvPr>
        </p:nvSpPr>
        <p:spPr>
          <a:xfrm>
            <a:off x="60876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subTitle" idx="5"/>
          </p:nvPr>
        </p:nvSpPr>
        <p:spPr>
          <a:xfrm>
            <a:off x="60876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717125" y="2594825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5" name="Google Shape;305;p41"/>
          <p:cNvSpPr txBox="1">
            <a:spLocks noGrp="1"/>
          </p:cNvSpPr>
          <p:nvPr>
            <p:ph type="subTitle" idx="1"/>
          </p:nvPr>
        </p:nvSpPr>
        <p:spPr>
          <a:xfrm>
            <a:off x="719988" y="3312525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41"/>
          <p:cNvSpPr txBox="1">
            <a:spLocks noGrp="1"/>
          </p:cNvSpPr>
          <p:nvPr>
            <p:ph type="title" idx="2"/>
          </p:nvPr>
        </p:nvSpPr>
        <p:spPr>
          <a:xfrm>
            <a:off x="3395188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7" name="Google Shape;307;p41"/>
          <p:cNvSpPr txBox="1">
            <a:spLocks noGrp="1"/>
          </p:cNvSpPr>
          <p:nvPr>
            <p:ph type="subTitle" idx="3"/>
          </p:nvPr>
        </p:nvSpPr>
        <p:spPr>
          <a:xfrm>
            <a:off x="3395188" y="331260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8" name="Google Shape;308;p41"/>
          <p:cNvSpPr txBox="1">
            <a:spLocks noGrp="1"/>
          </p:cNvSpPr>
          <p:nvPr>
            <p:ph type="title" idx="4"/>
          </p:nvPr>
        </p:nvSpPr>
        <p:spPr>
          <a:xfrm>
            <a:off x="6070363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41"/>
          <p:cNvSpPr txBox="1">
            <a:spLocks noGrp="1"/>
          </p:cNvSpPr>
          <p:nvPr>
            <p:ph type="subTitle" idx="5"/>
          </p:nvPr>
        </p:nvSpPr>
        <p:spPr>
          <a:xfrm>
            <a:off x="6070363" y="331215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41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 cstate="print">
            <a:alphaModFix amt="32000"/>
          </a:blip>
          <a:stretch>
            <a:fillRect/>
          </a:stretch>
        </p:blipFill>
        <p:spPr>
          <a:xfrm>
            <a:off x="-1019777" y="-1847072"/>
            <a:ext cx="2313025" cy="251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 cstate="print">
            <a:alphaModFix amt="30000"/>
          </a:blip>
          <a:stretch>
            <a:fillRect/>
          </a:stretch>
        </p:blipFill>
        <p:spPr>
          <a:xfrm>
            <a:off x="6988285" y="-2018700"/>
            <a:ext cx="2881223" cy="29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-702089">
            <a:off x="-734167" y="792101"/>
            <a:ext cx="77171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7200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1"/>
          </p:nvPr>
        </p:nvSpPr>
        <p:spPr>
          <a:xfrm>
            <a:off x="9246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42"/>
          <p:cNvSpPr txBox="1">
            <a:spLocks noGrp="1"/>
          </p:cNvSpPr>
          <p:nvPr>
            <p:ph type="title" idx="2"/>
          </p:nvPr>
        </p:nvSpPr>
        <p:spPr>
          <a:xfrm>
            <a:off x="34038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3"/>
          </p:nvPr>
        </p:nvSpPr>
        <p:spPr>
          <a:xfrm>
            <a:off x="36084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 idx="4"/>
          </p:nvPr>
        </p:nvSpPr>
        <p:spPr>
          <a:xfrm>
            <a:off x="60876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5"/>
          </p:nvPr>
        </p:nvSpPr>
        <p:spPr>
          <a:xfrm>
            <a:off x="62922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25;p43"/>
          <p:cNvGrpSpPr/>
          <p:nvPr/>
        </p:nvGrpSpPr>
        <p:grpSpPr>
          <a:xfrm>
            <a:off x="-2630529" y="-1513088"/>
            <a:ext cx="13086688" cy="8065884"/>
            <a:chOff x="-2630529" y="-1513088"/>
            <a:chExt cx="13086688" cy="8065884"/>
          </a:xfrm>
        </p:grpSpPr>
        <p:pic>
          <p:nvPicPr>
            <p:cNvPr id="326" name="Google Shape;326;p43"/>
            <p:cNvPicPr preferRelativeResize="0"/>
            <p:nvPr/>
          </p:nvPicPr>
          <p:blipFill>
            <a:blip r:embed="rId3" cstate="print">
              <a:alphaModFix amt="30000"/>
            </a:blip>
            <a:stretch>
              <a:fillRect/>
            </a:stretch>
          </p:blipFill>
          <p:spPr>
            <a:xfrm rot="8851044" flipH="1">
              <a:off x="-1601951" y="13880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3"/>
            <p:cNvPicPr preferRelativeResize="0"/>
            <p:nvPr/>
          </p:nvPicPr>
          <p:blipFill>
            <a:blip r:embed="rId4" cstate="print">
              <a:alphaModFix amt="13000"/>
            </a:blip>
            <a:stretch>
              <a:fillRect/>
            </a:stretch>
          </p:blipFill>
          <p:spPr>
            <a:xfrm rot="-5400000">
              <a:off x="7611947" y="-1658325"/>
              <a:ext cx="2698976" cy="298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3"/>
            <p:cNvPicPr preferRelativeResize="0"/>
            <p:nvPr/>
          </p:nvPicPr>
          <p:blipFill>
            <a:blip r:embed="rId5" cstate="print">
              <a:alphaModFix amt="41000"/>
            </a:blip>
            <a:stretch>
              <a:fillRect/>
            </a:stretch>
          </p:blipFill>
          <p:spPr>
            <a:xfrm>
              <a:off x="1090275" y="95587"/>
              <a:ext cx="432124" cy="439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43"/>
            <p:cNvPicPr preferRelativeResize="0"/>
            <p:nvPr/>
          </p:nvPicPr>
          <p:blipFill>
            <a:blip r:embed="rId6" cstate="print">
              <a:alphaModFix amt="38000"/>
            </a:blip>
            <a:stretch>
              <a:fillRect/>
            </a:stretch>
          </p:blipFill>
          <p:spPr>
            <a:xfrm flipH="1">
              <a:off x="169348" y="471744"/>
              <a:ext cx="920927" cy="9365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8724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1" name="Google Shape;331;p43"/>
          <p:cNvSpPr txBox="1">
            <a:spLocks noGrp="1"/>
          </p:cNvSpPr>
          <p:nvPr>
            <p:ph type="subTitle" idx="1"/>
          </p:nvPr>
        </p:nvSpPr>
        <p:spPr>
          <a:xfrm>
            <a:off x="8724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 idx="2"/>
          </p:nvPr>
        </p:nvSpPr>
        <p:spPr>
          <a:xfrm>
            <a:off x="34038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Google Shape;333;p43"/>
          <p:cNvSpPr txBox="1">
            <a:spLocks noGrp="1"/>
          </p:cNvSpPr>
          <p:nvPr>
            <p:ph type="subTitle" idx="3"/>
          </p:nvPr>
        </p:nvSpPr>
        <p:spPr>
          <a:xfrm>
            <a:off x="34038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43"/>
          <p:cNvSpPr txBox="1">
            <a:spLocks noGrp="1"/>
          </p:cNvSpPr>
          <p:nvPr>
            <p:ph type="title" idx="4"/>
          </p:nvPr>
        </p:nvSpPr>
        <p:spPr>
          <a:xfrm>
            <a:off x="59352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5"/>
          </p:nvPr>
        </p:nvSpPr>
        <p:spPr>
          <a:xfrm>
            <a:off x="59352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43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39;p44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340" name="Google Shape;340;p44"/>
            <p:cNvPicPr preferRelativeResize="0"/>
            <p:nvPr/>
          </p:nvPicPr>
          <p:blipFill>
            <a:blip r:embed="rId3" cstate="print">
              <a:alphaModFix amt="27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44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44"/>
          <p:cNvSpPr txBox="1">
            <a:spLocks noGrp="1"/>
          </p:cNvSpPr>
          <p:nvPr>
            <p:ph type="title"/>
          </p:nvPr>
        </p:nvSpPr>
        <p:spPr>
          <a:xfrm>
            <a:off x="72792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44"/>
          <p:cNvSpPr txBox="1">
            <a:spLocks noGrp="1"/>
          </p:cNvSpPr>
          <p:nvPr>
            <p:ph type="subTitle" idx="1"/>
          </p:nvPr>
        </p:nvSpPr>
        <p:spPr>
          <a:xfrm>
            <a:off x="82587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title" idx="2"/>
          </p:nvPr>
        </p:nvSpPr>
        <p:spPr>
          <a:xfrm>
            <a:off x="465997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ubTitle" idx="3"/>
          </p:nvPr>
        </p:nvSpPr>
        <p:spPr>
          <a:xfrm>
            <a:off x="475792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44"/>
          <p:cNvSpPr txBox="1">
            <a:spLocks noGrp="1"/>
          </p:cNvSpPr>
          <p:nvPr>
            <p:ph type="title" idx="4"/>
          </p:nvPr>
        </p:nvSpPr>
        <p:spPr>
          <a:xfrm>
            <a:off x="269395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7" name="Google Shape;347;p44"/>
          <p:cNvSpPr txBox="1">
            <a:spLocks noGrp="1"/>
          </p:cNvSpPr>
          <p:nvPr>
            <p:ph type="subTitle" idx="5"/>
          </p:nvPr>
        </p:nvSpPr>
        <p:spPr>
          <a:xfrm>
            <a:off x="279190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44"/>
          <p:cNvSpPr txBox="1">
            <a:spLocks noGrp="1"/>
          </p:cNvSpPr>
          <p:nvPr>
            <p:ph type="title" idx="6"/>
          </p:nvPr>
        </p:nvSpPr>
        <p:spPr>
          <a:xfrm>
            <a:off x="662600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subTitle" idx="7"/>
          </p:nvPr>
        </p:nvSpPr>
        <p:spPr>
          <a:xfrm>
            <a:off x="672395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53;p45"/>
          <p:cNvGrpSpPr/>
          <p:nvPr/>
        </p:nvGrpSpPr>
        <p:grpSpPr>
          <a:xfrm>
            <a:off x="-891002" y="-1475725"/>
            <a:ext cx="10578908" cy="2929874"/>
            <a:chOff x="-891002" y="-1228775"/>
            <a:chExt cx="10578908" cy="2929874"/>
          </a:xfrm>
        </p:grpSpPr>
        <p:pic>
          <p:nvPicPr>
            <p:cNvPr id="354" name="Google Shape;354;p4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4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7200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7" name="Google Shape;357;p45"/>
          <p:cNvSpPr txBox="1">
            <a:spLocks noGrp="1"/>
          </p:cNvSpPr>
          <p:nvPr>
            <p:ph type="subTitle" idx="1"/>
          </p:nvPr>
        </p:nvSpPr>
        <p:spPr>
          <a:xfrm>
            <a:off x="7200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45"/>
          <p:cNvSpPr txBox="1">
            <a:spLocks noGrp="1"/>
          </p:cNvSpPr>
          <p:nvPr>
            <p:ph type="title" idx="2"/>
          </p:nvPr>
        </p:nvSpPr>
        <p:spPr>
          <a:xfrm>
            <a:off x="3419269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9" name="Google Shape;359;p45"/>
          <p:cNvSpPr txBox="1">
            <a:spLocks noGrp="1"/>
          </p:cNvSpPr>
          <p:nvPr>
            <p:ph type="subTitle" idx="3"/>
          </p:nvPr>
        </p:nvSpPr>
        <p:spPr>
          <a:xfrm>
            <a:off x="3419269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45"/>
          <p:cNvSpPr txBox="1">
            <a:spLocks noGrp="1"/>
          </p:cNvSpPr>
          <p:nvPr>
            <p:ph type="title" idx="4"/>
          </p:nvPr>
        </p:nvSpPr>
        <p:spPr>
          <a:xfrm>
            <a:off x="7200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1" name="Google Shape;361;p45"/>
          <p:cNvSpPr txBox="1">
            <a:spLocks noGrp="1"/>
          </p:cNvSpPr>
          <p:nvPr>
            <p:ph type="subTitle" idx="5"/>
          </p:nvPr>
        </p:nvSpPr>
        <p:spPr>
          <a:xfrm>
            <a:off x="7200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45"/>
          <p:cNvSpPr txBox="1">
            <a:spLocks noGrp="1"/>
          </p:cNvSpPr>
          <p:nvPr>
            <p:ph type="title" idx="6"/>
          </p:nvPr>
        </p:nvSpPr>
        <p:spPr>
          <a:xfrm>
            <a:off x="3419269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45"/>
          <p:cNvSpPr txBox="1">
            <a:spLocks noGrp="1"/>
          </p:cNvSpPr>
          <p:nvPr>
            <p:ph type="subTitle" idx="7"/>
          </p:nvPr>
        </p:nvSpPr>
        <p:spPr>
          <a:xfrm>
            <a:off x="3419269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 idx="8"/>
          </p:nvPr>
        </p:nvSpPr>
        <p:spPr>
          <a:xfrm>
            <a:off x="6118545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subTitle" idx="9"/>
          </p:nvPr>
        </p:nvSpPr>
        <p:spPr>
          <a:xfrm>
            <a:off x="6118545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45"/>
          <p:cNvSpPr txBox="1">
            <a:spLocks noGrp="1"/>
          </p:cNvSpPr>
          <p:nvPr>
            <p:ph type="title" idx="13"/>
          </p:nvPr>
        </p:nvSpPr>
        <p:spPr>
          <a:xfrm>
            <a:off x="6118545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7" name="Google Shape;367;p45"/>
          <p:cNvSpPr txBox="1">
            <a:spLocks noGrp="1"/>
          </p:cNvSpPr>
          <p:nvPr>
            <p:ph type="subTitle" idx="14"/>
          </p:nvPr>
        </p:nvSpPr>
        <p:spPr>
          <a:xfrm>
            <a:off x="6118545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 idx="15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71;p46"/>
          <p:cNvGrpSpPr/>
          <p:nvPr/>
        </p:nvGrpSpPr>
        <p:grpSpPr>
          <a:xfrm>
            <a:off x="-1203759" y="-1310750"/>
            <a:ext cx="10783080" cy="7374679"/>
            <a:chOff x="-1203759" y="-1063800"/>
            <a:chExt cx="10783080" cy="7374679"/>
          </a:xfrm>
        </p:grpSpPr>
        <p:pic>
          <p:nvPicPr>
            <p:cNvPr id="372" name="Google Shape;372;p4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6698098" y="-10638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4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-467876" y="390012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46"/>
          <p:cNvSpPr txBox="1">
            <a:spLocks noGrp="1"/>
          </p:cNvSpPr>
          <p:nvPr>
            <p:ph type="title"/>
          </p:nvPr>
        </p:nvSpPr>
        <p:spPr>
          <a:xfrm>
            <a:off x="19119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5" name="Google Shape;375;p46"/>
          <p:cNvSpPr txBox="1">
            <a:spLocks noGrp="1"/>
          </p:cNvSpPr>
          <p:nvPr>
            <p:ph type="subTitle" idx="1"/>
          </p:nvPr>
        </p:nvSpPr>
        <p:spPr>
          <a:xfrm>
            <a:off x="19119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2"/>
          </p:nvPr>
        </p:nvSpPr>
        <p:spPr>
          <a:xfrm>
            <a:off x="4926594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7" name="Google Shape;377;p46"/>
          <p:cNvSpPr txBox="1">
            <a:spLocks noGrp="1"/>
          </p:cNvSpPr>
          <p:nvPr>
            <p:ph type="subTitle" idx="3"/>
          </p:nvPr>
        </p:nvSpPr>
        <p:spPr>
          <a:xfrm>
            <a:off x="4926594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 idx="4"/>
          </p:nvPr>
        </p:nvSpPr>
        <p:spPr>
          <a:xfrm>
            <a:off x="19119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5"/>
          </p:nvPr>
        </p:nvSpPr>
        <p:spPr>
          <a:xfrm>
            <a:off x="19119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46"/>
          <p:cNvSpPr txBox="1">
            <a:spLocks noGrp="1"/>
          </p:cNvSpPr>
          <p:nvPr>
            <p:ph type="title" idx="6"/>
          </p:nvPr>
        </p:nvSpPr>
        <p:spPr>
          <a:xfrm>
            <a:off x="4926594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1" name="Google Shape;381;p46"/>
          <p:cNvSpPr txBox="1">
            <a:spLocks noGrp="1"/>
          </p:cNvSpPr>
          <p:nvPr>
            <p:ph type="subTitle" idx="7"/>
          </p:nvPr>
        </p:nvSpPr>
        <p:spPr>
          <a:xfrm>
            <a:off x="4926594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46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5" name="Google Shape;385;p47"/>
          <p:cNvSpPr txBox="1">
            <a:spLocks noGrp="1"/>
          </p:cNvSpPr>
          <p:nvPr>
            <p:ph type="title" idx="2"/>
          </p:nvPr>
        </p:nvSpPr>
        <p:spPr>
          <a:xfrm>
            <a:off x="1104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6" name="Google Shape;386;p47"/>
          <p:cNvSpPr txBox="1">
            <a:spLocks noGrp="1"/>
          </p:cNvSpPr>
          <p:nvPr>
            <p:ph type="subTitle" idx="1"/>
          </p:nvPr>
        </p:nvSpPr>
        <p:spPr>
          <a:xfrm>
            <a:off x="7165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47"/>
          <p:cNvSpPr txBox="1">
            <a:spLocks noGrp="1"/>
          </p:cNvSpPr>
          <p:nvPr>
            <p:ph type="title" idx="3"/>
          </p:nvPr>
        </p:nvSpPr>
        <p:spPr>
          <a:xfrm>
            <a:off x="5137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4"/>
          </p:nvPr>
        </p:nvSpPr>
        <p:spPr>
          <a:xfrm>
            <a:off x="46828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 idx="5"/>
          </p:nvPr>
        </p:nvSpPr>
        <p:spPr>
          <a:xfrm>
            <a:off x="1104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0" name="Google Shape;390;p47"/>
          <p:cNvSpPr txBox="1">
            <a:spLocks noGrp="1"/>
          </p:cNvSpPr>
          <p:nvPr>
            <p:ph type="subTitle" idx="6"/>
          </p:nvPr>
        </p:nvSpPr>
        <p:spPr>
          <a:xfrm>
            <a:off x="7165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1" name="Google Shape;391;p47"/>
          <p:cNvSpPr txBox="1">
            <a:spLocks noGrp="1"/>
          </p:cNvSpPr>
          <p:nvPr>
            <p:ph type="title" idx="7"/>
          </p:nvPr>
        </p:nvSpPr>
        <p:spPr>
          <a:xfrm>
            <a:off x="5137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2" name="Google Shape;392;p47"/>
          <p:cNvSpPr txBox="1">
            <a:spLocks noGrp="1"/>
          </p:cNvSpPr>
          <p:nvPr>
            <p:ph type="subTitle" idx="8"/>
          </p:nvPr>
        </p:nvSpPr>
        <p:spPr>
          <a:xfrm>
            <a:off x="46828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393;p47"/>
          <p:cNvGrpSpPr/>
          <p:nvPr/>
        </p:nvGrpSpPr>
        <p:grpSpPr>
          <a:xfrm rot="10800000" flipH="1">
            <a:off x="-891002" y="-794254"/>
            <a:ext cx="10578908" cy="3143404"/>
            <a:chOff x="-891002" y="-1020125"/>
            <a:chExt cx="10578908" cy="3143404"/>
          </a:xfrm>
        </p:grpSpPr>
        <p:pic>
          <p:nvPicPr>
            <p:cNvPr id="394" name="Google Shape;394;p47"/>
            <p:cNvPicPr preferRelativeResize="0"/>
            <p:nvPr/>
          </p:nvPicPr>
          <p:blipFill>
            <a:blip r:embed="rId2" cstate="print">
              <a:alphaModFix amt="29000"/>
            </a:blip>
            <a:stretch>
              <a:fillRect/>
            </a:stretch>
          </p:blipFill>
          <p:spPr>
            <a:xfrm>
              <a:off x="-891002" y="-10201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47"/>
            <p:cNvPicPr preferRelativeResize="0"/>
            <p:nvPr/>
          </p:nvPicPr>
          <p:blipFill>
            <a:blip r:embed="rId3" cstate="print">
              <a:alphaModFix amt="43000"/>
            </a:blip>
            <a:stretch>
              <a:fillRect/>
            </a:stretch>
          </p:blipFill>
          <p:spPr>
            <a:xfrm rot="4408896">
              <a:off x="7465724" y="-2874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98;p48"/>
          <p:cNvGrpSpPr/>
          <p:nvPr/>
        </p:nvGrpSpPr>
        <p:grpSpPr>
          <a:xfrm rot="10800000" flipH="1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399" name="Google Shape;399;p48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8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720000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2" name="Google Shape;402;p48"/>
          <p:cNvSpPr txBox="1">
            <a:spLocks noGrp="1"/>
          </p:cNvSpPr>
          <p:nvPr>
            <p:ph type="subTitle" idx="1"/>
          </p:nvPr>
        </p:nvSpPr>
        <p:spPr>
          <a:xfrm>
            <a:off x="720000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3" name="Google Shape;403;p48"/>
          <p:cNvSpPr txBox="1">
            <a:spLocks noGrp="1"/>
          </p:cNvSpPr>
          <p:nvPr>
            <p:ph type="title" idx="2"/>
          </p:nvPr>
        </p:nvSpPr>
        <p:spPr>
          <a:xfrm>
            <a:off x="3419269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4" name="Google Shape;404;p48"/>
          <p:cNvSpPr txBox="1">
            <a:spLocks noGrp="1"/>
          </p:cNvSpPr>
          <p:nvPr>
            <p:ph type="subTitle" idx="3"/>
          </p:nvPr>
        </p:nvSpPr>
        <p:spPr>
          <a:xfrm>
            <a:off x="3419269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48"/>
          <p:cNvSpPr txBox="1">
            <a:spLocks noGrp="1"/>
          </p:cNvSpPr>
          <p:nvPr>
            <p:ph type="title" idx="4"/>
          </p:nvPr>
        </p:nvSpPr>
        <p:spPr>
          <a:xfrm>
            <a:off x="2069638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6" name="Google Shape;406;p48"/>
          <p:cNvSpPr txBox="1">
            <a:spLocks noGrp="1"/>
          </p:cNvSpPr>
          <p:nvPr>
            <p:ph type="subTitle" idx="5"/>
          </p:nvPr>
        </p:nvSpPr>
        <p:spPr>
          <a:xfrm>
            <a:off x="2069638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7" name="Google Shape;407;p48"/>
          <p:cNvSpPr txBox="1">
            <a:spLocks noGrp="1"/>
          </p:cNvSpPr>
          <p:nvPr>
            <p:ph type="title" idx="6"/>
          </p:nvPr>
        </p:nvSpPr>
        <p:spPr>
          <a:xfrm>
            <a:off x="4768907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8" name="Google Shape;408;p48"/>
          <p:cNvSpPr txBox="1">
            <a:spLocks noGrp="1"/>
          </p:cNvSpPr>
          <p:nvPr>
            <p:ph type="subTitle" idx="7"/>
          </p:nvPr>
        </p:nvSpPr>
        <p:spPr>
          <a:xfrm>
            <a:off x="4768907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9" name="Google Shape;409;p48"/>
          <p:cNvSpPr txBox="1">
            <a:spLocks noGrp="1"/>
          </p:cNvSpPr>
          <p:nvPr>
            <p:ph type="title" idx="8"/>
          </p:nvPr>
        </p:nvSpPr>
        <p:spPr>
          <a:xfrm>
            <a:off x="6118545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subTitle" idx="9"/>
          </p:nvPr>
        </p:nvSpPr>
        <p:spPr>
          <a:xfrm>
            <a:off x="6118545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title" idx="13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9"/>
          <p:cNvSpPr txBox="1">
            <a:spLocks noGrp="1"/>
          </p:cNvSpPr>
          <p:nvPr>
            <p:ph type="title" hasCustomPrompt="1"/>
          </p:nvPr>
        </p:nvSpPr>
        <p:spPr>
          <a:xfrm>
            <a:off x="1312156" y="19972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1"/>
          </p:nvPr>
        </p:nvSpPr>
        <p:spPr>
          <a:xfrm>
            <a:off x="1312225" y="4188588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49"/>
          <p:cNvSpPr txBox="1">
            <a:spLocks noGrp="1"/>
          </p:cNvSpPr>
          <p:nvPr>
            <p:ph type="title" idx="2" hasCustomPrompt="1"/>
          </p:nvPr>
        </p:nvSpPr>
        <p:spPr>
          <a:xfrm>
            <a:off x="1312144" y="34175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3"/>
          </p:nvPr>
        </p:nvSpPr>
        <p:spPr>
          <a:xfrm>
            <a:off x="1312175" y="12895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 idx="4" hasCustomPrompt="1"/>
          </p:nvPr>
        </p:nvSpPr>
        <p:spPr>
          <a:xfrm>
            <a:off x="1312181" y="5769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9" name="Google Shape;419;p49"/>
          <p:cNvSpPr txBox="1">
            <a:spLocks noGrp="1"/>
          </p:cNvSpPr>
          <p:nvPr>
            <p:ph type="subTitle" idx="5"/>
          </p:nvPr>
        </p:nvSpPr>
        <p:spPr>
          <a:xfrm>
            <a:off x="1312225" y="27098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20;p49"/>
          <p:cNvGrpSpPr/>
          <p:nvPr/>
        </p:nvGrpSpPr>
        <p:grpSpPr>
          <a:xfrm>
            <a:off x="-1956832" y="-1968099"/>
            <a:ext cx="12940132" cy="7885148"/>
            <a:chOff x="-1956832" y="-1968099"/>
            <a:chExt cx="12940132" cy="7885148"/>
          </a:xfrm>
        </p:grpSpPr>
        <p:pic>
          <p:nvPicPr>
            <p:cNvPr id="421" name="Google Shape;421;p49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-1253698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9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7260176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>
            <a:spLocks noGrp="1"/>
          </p:cNvSpPr>
          <p:nvPr>
            <p:ph type="title" hasCustomPrompt="1"/>
          </p:nvPr>
        </p:nvSpPr>
        <p:spPr>
          <a:xfrm>
            <a:off x="1991075" y="28280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6" name="Google Shape;426;p50"/>
          <p:cNvSpPr txBox="1">
            <a:spLocks noGrp="1"/>
          </p:cNvSpPr>
          <p:nvPr>
            <p:ph type="subTitle" idx="1"/>
          </p:nvPr>
        </p:nvSpPr>
        <p:spPr>
          <a:xfrm>
            <a:off x="1991091" y="19373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7" name="Google Shape;427;p50"/>
          <p:cNvSpPr txBox="1">
            <a:spLocks noGrp="1"/>
          </p:cNvSpPr>
          <p:nvPr>
            <p:ph type="title" idx="2" hasCustomPrompt="1"/>
          </p:nvPr>
        </p:nvSpPr>
        <p:spPr>
          <a:xfrm>
            <a:off x="1991100" y="10196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8" name="Google Shape;428;p50"/>
          <p:cNvSpPr txBox="1">
            <a:spLocks noGrp="1"/>
          </p:cNvSpPr>
          <p:nvPr>
            <p:ph type="subTitle" idx="3"/>
          </p:nvPr>
        </p:nvSpPr>
        <p:spPr>
          <a:xfrm>
            <a:off x="1991130" y="37458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29" name="Google Shape;429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-1181955" flipH="1">
            <a:off x="-1253698" y="-1113975"/>
            <a:ext cx="3030302" cy="469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2567899" flipH="1">
            <a:off x="7747451" y="1912351"/>
            <a:ext cx="3030303" cy="469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1"/>
          <p:cNvSpPr txBox="1">
            <a:spLocks noGrp="1"/>
          </p:cNvSpPr>
          <p:nvPr>
            <p:ph type="title" hasCustomPrompt="1"/>
          </p:nvPr>
        </p:nvSpPr>
        <p:spPr>
          <a:xfrm>
            <a:off x="3331628" y="1815466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4" name="Google Shape;434;p51"/>
          <p:cNvSpPr txBox="1">
            <a:spLocks noGrp="1"/>
          </p:cNvSpPr>
          <p:nvPr>
            <p:ph type="subTitle" idx="1"/>
          </p:nvPr>
        </p:nvSpPr>
        <p:spPr>
          <a:xfrm>
            <a:off x="6195725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5" name="Google Shape;435;p51"/>
          <p:cNvSpPr txBox="1">
            <a:spLocks noGrp="1"/>
          </p:cNvSpPr>
          <p:nvPr>
            <p:ph type="title" idx="2" hasCustomPrompt="1"/>
          </p:nvPr>
        </p:nvSpPr>
        <p:spPr>
          <a:xfrm>
            <a:off x="5948173" y="1815454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6" name="Google Shape;436;p51"/>
          <p:cNvSpPr txBox="1">
            <a:spLocks noGrp="1"/>
          </p:cNvSpPr>
          <p:nvPr>
            <p:ph type="subTitle" idx="3"/>
          </p:nvPr>
        </p:nvSpPr>
        <p:spPr>
          <a:xfrm>
            <a:off x="96261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51"/>
          <p:cNvSpPr txBox="1">
            <a:spLocks noGrp="1"/>
          </p:cNvSpPr>
          <p:nvPr>
            <p:ph type="title" idx="4" hasCustomPrompt="1"/>
          </p:nvPr>
        </p:nvSpPr>
        <p:spPr>
          <a:xfrm>
            <a:off x="715112" y="1844691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8" name="Google Shape;438;p51"/>
          <p:cNvSpPr txBox="1">
            <a:spLocks noGrp="1"/>
          </p:cNvSpPr>
          <p:nvPr>
            <p:ph type="subTitle" idx="5"/>
          </p:nvPr>
        </p:nvSpPr>
        <p:spPr>
          <a:xfrm>
            <a:off x="357916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39;p51"/>
          <p:cNvGrpSpPr/>
          <p:nvPr/>
        </p:nvGrpSpPr>
        <p:grpSpPr>
          <a:xfrm>
            <a:off x="-1923024" y="-1968099"/>
            <a:ext cx="13199162" cy="7885148"/>
            <a:chOff x="-1923024" y="-1968099"/>
            <a:chExt cx="13199162" cy="7885148"/>
          </a:xfrm>
        </p:grpSpPr>
        <p:pic>
          <p:nvPicPr>
            <p:cNvPr id="440" name="Google Shape;440;p51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7542702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51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51"/>
          <p:cNvSpPr txBox="1">
            <a:spLocks noGrp="1"/>
          </p:cNvSpPr>
          <p:nvPr>
            <p:ph type="subTitle" idx="6"/>
          </p:nvPr>
        </p:nvSpPr>
        <p:spPr>
          <a:xfrm>
            <a:off x="6195725" y="3761146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3" name="Google Shape;443;p51"/>
          <p:cNvSpPr txBox="1">
            <a:spLocks noGrp="1"/>
          </p:cNvSpPr>
          <p:nvPr>
            <p:ph type="subTitle" idx="7"/>
          </p:nvPr>
        </p:nvSpPr>
        <p:spPr>
          <a:xfrm>
            <a:off x="962612" y="3761145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8"/>
          </p:nvPr>
        </p:nvSpPr>
        <p:spPr>
          <a:xfrm>
            <a:off x="3579162" y="3761147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51"/>
          <p:cNvSpPr txBox="1">
            <a:spLocks noGrp="1"/>
          </p:cNvSpPr>
          <p:nvPr>
            <p:ph type="title" idx="9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5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1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2"/>
          <p:cNvSpPr txBox="1">
            <a:spLocks noGrp="1"/>
          </p:cNvSpPr>
          <p:nvPr>
            <p:ph type="title" hasCustomPrompt="1"/>
          </p:nvPr>
        </p:nvSpPr>
        <p:spPr>
          <a:xfrm>
            <a:off x="715101" y="21450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1"/>
          </p:nvPr>
        </p:nvSpPr>
        <p:spPr>
          <a:xfrm>
            <a:off x="4889626" y="1344850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 idx="2" hasCustomPrompt="1"/>
          </p:nvPr>
        </p:nvSpPr>
        <p:spPr>
          <a:xfrm>
            <a:off x="715106" y="1344838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1" name="Google Shape;451;p52"/>
          <p:cNvSpPr txBox="1">
            <a:spLocks noGrp="1"/>
          </p:cNvSpPr>
          <p:nvPr>
            <p:ph type="subTitle" idx="3"/>
          </p:nvPr>
        </p:nvSpPr>
        <p:spPr>
          <a:xfrm>
            <a:off x="4889626" y="2145009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52;p52"/>
          <p:cNvGrpSpPr/>
          <p:nvPr/>
        </p:nvGrpSpPr>
        <p:grpSpPr>
          <a:xfrm rot="10800000">
            <a:off x="-2743074" y="-793849"/>
            <a:ext cx="13820262" cy="7885148"/>
            <a:chOff x="-1923024" y="-1968099"/>
            <a:chExt cx="13820262" cy="7885148"/>
          </a:xfrm>
        </p:grpSpPr>
        <p:pic>
          <p:nvPicPr>
            <p:cNvPr id="453" name="Google Shape;453;p52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8163802" y="5153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52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52"/>
          <p:cNvSpPr txBox="1">
            <a:spLocks noGrp="1"/>
          </p:cNvSpPr>
          <p:nvPr>
            <p:ph type="subTitle" idx="4"/>
          </p:nvPr>
        </p:nvSpPr>
        <p:spPr>
          <a:xfrm>
            <a:off x="6515000" y="1344838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6" name="Google Shape;456;p52"/>
          <p:cNvSpPr txBox="1">
            <a:spLocks noGrp="1"/>
          </p:cNvSpPr>
          <p:nvPr>
            <p:ph type="subTitle" idx="5"/>
          </p:nvPr>
        </p:nvSpPr>
        <p:spPr>
          <a:xfrm>
            <a:off x="6515000" y="21450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7" name="Google Shape;457;p52"/>
          <p:cNvSpPr txBox="1">
            <a:spLocks noGrp="1"/>
          </p:cNvSpPr>
          <p:nvPr>
            <p:ph type="title" idx="6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8" name="Google Shape;458;p52"/>
          <p:cNvSpPr txBox="1">
            <a:spLocks noGrp="1"/>
          </p:cNvSpPr>
          <p:nvPr>
            <p:ph type="title" idx="7" hasCustomPrompt="1"/>
          </p:nvPr>
        </p:nvSpPr>
        <p:spPr>
          <a:xfrm>
            <a:off x="715101" y="294515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9" name="Google Shape;459;p52"/>
          <p:cNvSpPr txBox="1">
            <a:spLocks noGrp="1"/>
          </p:cNvSpPr>
          <p:nvPr>
            <p:ph type="subTitle" idx="8"/>
          </p:nvPr>
        </p:nvSpPr>
        <p:spPr>
          <a:xfrm>
            <a:off x="4889626" y="2945155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0" name="Google Shape;460;p52"/>
          <p:cNvSpPr txBox="1">
            <a:spLocks noGrp="1"/>
          </p:cNvSpPr>
          <p:nvPr>
            <p:ph type="subTitle" idx="9"/>
          </p:nvPr>
        </p:nvSpPr>
        <p:spPr>
          <a:xfrm>
            <a:off x="6515000" y="294515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1" name="Google Shape;461;p52"/>
          <p:cNvSpPr txBox="1">
            <a:spLocks noGrp="1"/>
          </p:cNvSpPr>
          <p:nvPr>
            <p:ph type="title" idx="13" hasCustomPrompt="1"/>
          </p:nvPr>
        </p:nvSpPr>
        <p:spPr>
          <a:xfrm>
            <a:off x="715101" y="37453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2" name="Google Shape;462;p52"/>
          <p:cNvSpPr txBox="1">
            <a:spLocks noGrp="1"/>
          </p:cNvSpPr>
          <p:nvPr>
            <p:ph type="subTitle" idx="14"/>
          </p:nvPr>
        </p:nvSpPr>
        <p:spPr>
          <a:xfrm>
            <a:off x="4889626" y="3745301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3" name="Google Shape;463;p52"/>
          <p:cNvSpPr txBox="1">
            <a:spLocks noGrp="1"/>
          </p:cNvSpPr>
          <p:nvPr>
            <p:ph type="subTitle" idx="15"/>
          </p:nvPr>
        </p:nvSpPr>
        <p:spPr>
          <a:xfrm>
            <a:off x="6515000" y="37453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6" name="Google Shape;466;p53"/>
          <p:cNvSpPr txBox="1">
            <a:spLocks noGrp="1"/>
          </p:cNvSpPr>
          <p:nvPr>
            <p:ph type="title" idx="2"/>
          </p:nvPr>
        </p:nvSpPr>
        <p:spPr>
          <a:xfrm>
            <a:off x="883625" y="148907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7" name="Google Shape;467;p53"/>
          <p:cNvSpPr txBox="1">
            <a:spLocks noGrp="1"/>
          </p:cNvSpPr>
          <p:nvPr>
            <p:ph type="subTitle" idx="1"/>
          </p:nvPr>
        </p:nvSpPr>
        <p:spPr>
          <a:xfrm>
            <a:off x="3080450" y="148907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8" name="Google Shape;468;p53"/>
          <p:cNvSpPr txBox="1">
            <a:spLocks noGrp="1"/>
          </p:cNvSpPr>
          <p:nvPr>
            <p:ph type="title" idx="3"/>
          </p:nvPr>
        </p:nvSpPr>
        <p:spPr>
          <a:xfrm>
            <a:off x="883625" y="230790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9" name="Google Shape;469;p53"/>
          <p:cNvSpPr txBox="1">
            <a:spLocks noGrp="1"/>
          </p:cNvSpPr>
          <p:nvPr>
            <p:ph type="subTitle" idx="4"/>
          </p:nvPr>
        </p:nvSpPr>
        <p:spPr>
          <a:xfrm>
            <a:off x="3080450" y="230790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0" name="Google Shape;470;p53"/>
          <p:cNvSpPr txBox="1">
            <a:spLocks noGrp="1"/>
          </p:cNvSpPr>
          <p:nvPr>
            <p:ph type="title" idx="5"/>
          </p:nvPr>
        </p:nvSpPr>
        <p:spPr>
          <a:xfrm>
            <a:off x="883625" y="312672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1" name="Google Shape;471;p53"/>
          <p:cNvSpPr txBox="1">
            <a:spLocks noGrp="1"/>
          </p:cNvSpPr>
          <p:nvPr>
            <p:ph type="subTitle" idx="6"/>
          </p:nvPr>
        </p:nvSpPr>
        <p:spPr>
          <a:xfrm>
            <a:off x="3080450" y="312672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2" name="Google Shape;472;p53"/>
          <p:cNvSpPr txBox="1">
            <a:spLocks noGrp="1"/>
          </p:cNvSpPr>
          <p:nvPr>
            <p:ph type="title" idx="7"/>
          </p:nvPr>
        </p:nvSpPr>
        <p:spPr>
          <a:xfrm>
            <a:off x="883625" y="394555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3" name="Google Shape;473;p53"/>
          <p:cNvSpPr txBox="1">
            <a:spLocks noGrp="1"/>
          </p:cNvSpPr>
          <p:nvPr>
            <p:ph type="subTitle" idx="8"/>
          </p:nvPr>
        </p:nvSpPr>
        <p:spPr>
          <a:xfrm>
            <a:off x="3080450" y="394555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4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>
            <a:off x="0" y="202705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4"/>
          <p:cNvSpPr txBox="1">
            <a:spLocks noGrp="1"/>
          </p:cNvSpPr>
          <p:nvPr>
            <p:ph type="title"/>
          </p:nvPr>
        </p:nvSpPr>
        <p:spPr>
          <a:xfrm flipH="1">
            <a:off x="2476075" y="1588775"/>
            <a:ext cx="4291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54"/>
          <p:cNvSpPr txBox="1">
            <a:spLocks noGrp="1"/>
          </p:cNvSpPr>
          <p:nvPr>
            <p:ph type="subTitle" idx="1"/>
          </p:nvPr>
        </p:nvSpPr>
        <p:spPr>
          <a:xfrm flipH="1">
            <a:off x="2476075" y="2968230"/>
            <a:ext cx="4291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5"/>
          <p:cNvSpPr txBox="1">
            <a:spLocks noGrp="1"/>
          </p:cNvSpPr>
          <p:nvPr>
            <p:ph type="title"/>
          </p:nvPr>
        </p:nvSpPr>
        <p:spPr>
          <a:xfrm flipH="1">
            <a:off x="4320775" y="1588775"/>
            <a:ext cx="4110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2" name="Google Shape;482;p55"/>
          <p:cNvSpPr txBox="1">
            <a:spLocks noGrp="1"/>
          </p:cNvSpPr>
          <p:nvPr>
            <p:ph type="subTitle" idx="1"/>
          </p:nvPr>
        </p:nvSpPr>
        <p:spPr>
          <a:xfrm flipH="1">
            <a:off x="4320775" y="2968225"/>
            <a:ext cx="4110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83;p55"/>
          <p:cNvGrpSpPr/>
          <p:nvPr/>
        </p:nvGrpSpPr>
        <p:grpSpPr>
          <a:xfrm rot="10800000" flipH="1">
            <a:off x="-616659" y="-488554"/>
            <a:ext cx="10865580" cy="6700154"/>
            <a:chOff x="-713684" y="-2669900"/>
            <a:chExt cx="10865580" cy="6700154"/>
          </a:xfrm>
        </p:grpSpPr>
        <p:pic>
          <p:nvPicPr>
            <p:cNvPr id="484" name="Google Shape;484;p5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7270673" y="-26699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22199" y="161950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 txBox="1">
            <a:spLocks noGrp="1"/>
          </p:cNvSpPr>
          <p:nvPr>
            <p:ph type="title"/>
          </p:nvPr>
        </p:nvSpPr>
        <p:spPr>
          <a:xfrm>
            <a:off x="4408076" y="1740900"/>
            <a:ext cx="286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9" name="Google Shape;489;p56"/>
          <p:cNvSpPr txBox="1">
            <a:spLocks noGrp="1"/>
          </p:cNvSpPr>
          <p:nvPr>
            <p:ph type="subTitle" idx="1"/>
          </p:nvPr>
        </p:nvSpPr>
        <p:spPr>
          <a:xfrm>
            <a:off x="4408076" y="2313597"/>
            <a:ext cx="2861100" cy="10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90;p56"/>
          <p:cNvGrpSpPr/>
          <p:nvPr/>
        </p:nvGrpSpPr>
        <p:grpSpPr>
          <a:xfrm rot="10800000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491" name="Google Shape;491;p5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3" y="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7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flipH="1">
            <a:off x="0" y="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7"/>
          <p:cNvSpPr txBox="1">
            <a:spLocks noGrp="1"/>
          </p:cNvSpPr>
          <p:nvPr>
            <p:ph type="subTitle" idx="1"/>
          </p:nvPr>
        </p:nvSpPr>
        <p:spPr>
          <a:xfrm>
            <a:off x="2478875" y="3859275"/>
            <a:ext cx="41862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7" name="Google Shape;497;p5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5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8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flipH="1">
            <a:off x="-2015" y="-955475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8"/>
          <p:cNvSpPr txBox="1">
            <a:spLocks noGrp="1"/>
          </p:cNvSpPr>
          <p:nvPr>
            <p:ph type="ctrTitle"/>
          </p:nvPr>
        </p:nvSpPr>
        <p:spPr>
          <a:xfrm>
            <a:off x="2429950" y="418979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2" name="Google Shape;502;p58"/>
          <p:cNvSpPr txBox="1">
            <a:spLocks noGrp="1"/>
          </p:cNvSpPr>
          <p:nvPr>
            <p:ph type="subTitle" idx="1"/>
          </p:nvPr>
        </p:nvSpPr>
        <p:spPr>
          <a:xfrm>
            <a:off x="2425075" y="1659495"/>
            <a:ext cx="42939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3" name="Google Shape;503;p58"/>
          <p:cNvSpPr txBox="1"/>
          <p:nvPr/>
        </p:nvSpPr>
        <p:spPr>
          <a:xfrm>
            <a:off x="2825850" y="3686879"/>
            <a:ext cx="349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DFDEFC"/>
                </a:highlight>
                <a:latin typeface="Quicksand"/>
                <a:ea typeface="Quicksand"/>
                <a:cs typeface="Quicksand"/>
                <a:sym typeface="Quicksand"/>
              </a:rPr>
              <a:t>and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highlight>
                <a:srgbClr val="DFDEFC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08;p60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509" name="Google Shape;509;p6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60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1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2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6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16;p62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517" name="Google Shape;517;p62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62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3A74B8-EF64-4578-9A72-98E8B3A3A10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1FC"/>
              </a:gs>
              <a:gs pos="74000">
                <a:srgbClr val="BFCBD9"/>
              </a:gs>
              <a:gs pos="83000">
                <a:srgbClr val="BFCBD9"/>
              </a:gs>
              <a:gs pos="100000">
                <a:srgbClr val="BFCBD9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03261B-DE37-4912-AF5A-8E51A0F03535}"/>
              </a:ext>
            </a:extLst>
          </p:cNvPr>
          <p:cNvSpPr/>
          <p:nvPr/>
        </p:nvSpPr>
        <p:spPr>
          <a:xfrm>
            <a:off x="1304925" y="1085851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EA7C3A-9E97-4FD9-9258-90A2A701B48E}"/>
              </a:ext>
            </a:extLst>
          </p:cNvPr>
          <p:cNvSpPr/>
          <p:nvPr/>
        </p:nvSpPr>
        <p:spPr>
          <a:xfrm>
            <a:off x="549276" y="549276"/>
            <a:ext cx="8045448" cy="4040188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DF1A8A-E8B1-4F56-8E05-BF95BE98DE5B}"/>
              </a:ext>
            </a:extLst>
          </p:cNvPr>
          <p:cNvSpPr/>
          <p:nvPr/>
        </p:nvSpPr>
        <p:spPr>
          <a:xfrm>
            <a:off x="549276" y="549274"/>
            <a:ext cx="8045448" cy="2022476"/>
          </a:xfrm>
          <a:custGeom>
            <a:avLst/>
            <a:gdLst>
              <a:gd name="connsiteX0" fmla="*/ 95348 w 10727264"/>
              <a:gd name="connsiteY0" fmla="*/ 0 h 2696634"/>
              <a:gd name="connsiteX1" fmla="*/ 10631916 w 10727264"/>
              <a:gd name="connsiteY1" fmla="*/ 0 h 2696634"/>
              <a:gd name="connsiteX2" fmla="*/ 10727264 w 10727264"/>
              <a:gd name="connsiteY2" fmla="*/ 95348 h 2696634"/>
              <a:gd name="connsiteX3" fmla="*/ 10727264 w 10727264"/>
              <a:gd name="connsiteY3" fmla="*/ 2696634 h 2696634"/>
              <a:gd name="connsiteX4" fmla="*/ 0 w 10727264"/>
              <a:gd name="connsiteY4" fmla="*/ 2696634 h 2696634"/>
              <a:gd name="connsiteX5" fmla="*/ 0 w 10727264"/>
              <a:gd name="connsiteY5" fmla="*/ 95348 h 2696634"/>
              <a:gd name="connsiteX6" fmla="*/ 95348 w 10727264"/>
              <a:gd name="connsiteY6" fmla="*/ 0 h 269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27264" h="2696634">
                <a:moveTo>
                  <a:pt x="95348" y="0"/>
                </a:moveTo>
                <a:lnTo>
                  <a:pt x="10631916" y="0"/>
                </a:lnTo>
                <a:cubicBezTo>
                  <a:pt x="10684575" y="0"/>
                  <a:pt x="10727264" y="42689"/>
                  <a:pt x="10727264" y="95348"/>
                </a:cubicBezTo>
                <a:lnTo>
                  <a:pt x="10727264" y="2696634"/>
                </a:lnTo>
                <a:lnTo>
                  <a:pt x="0" y="2696634"/>
                </a:lnTo>
                <a:lnTo>
                  <a:pt x="0" y="95348"/>
                </a:lnTo>
                <a:cubicBezTo>
                  <a:pt x="0" y="42689"/>
                  <a:pt x="42689" y="0"/>
                  <a:pt x="9534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65162"/>
            <a:ext cx="6858000" cy="1790700"/>
          </a:xfrm>
        </p:spPr>
        <p:txBody>
          <a:bodyPr anchor="b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71544"/>
            <a:ext cx="6858000" cy="5319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700" cap="all" baseline="0">
                <a:solidFill>
                  <a:srgbClr val="4C8BFD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D686E"/>
                </a:solidFill>
              </a:defRPr>
            </a:lvl1pPr>
          </a:lstStyle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29250" y="4834955"/>
            <a:ext cx="3086100" cy="274637"/>
          </a:xfrm>
        </p:spPr>
        <p:txBody>
          <a:bodyPr/>
          <a:lstStyle>
            <a:lvl1pPr algn="r">
              <a:defRPr>
                <a:solidFill>
                  <a:srgbClr val="5D686E"/>
                </a:solidFill>
              </a:defRPr>
            </a:lvl1pPr>
          </a:lstStyle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725003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32617-F728-4345-9B63-C0B5F79D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96419-4C10-4573-9A34-A9E44962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271FF-57D3-46C2-B896-B112906A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3037F-AC0A-45F2-9BE0-E2564EE6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7351E8-B1DF-47F2-BEAE-438019E48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533526"/>
            <a:ext cx="7886700" cy="3246119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61709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2"/>
            <a:ext cx="7886700" cy="2139950"/>
          </a:xfrm>
        </p:spPr>
        <p:txBody>
          <a:bodyPr anchor="b"/>
          <a:lstStyle>
            <a:lvl1pPr>
              <a:defRPr sz="6000">
                <a:solidFill>
                  <a:srgbClr val="5D686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2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82003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243147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40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791504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385813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114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134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416588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32561"/>
            <a:ext cx="7886700" cy="329228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0854831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4640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4640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3100982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364718"/>
            <a:ext cx="9144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5" y="2303794"/>
            <a:ext cx="5046133" cy="535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7216" y="4591049"/>
            <a:ext cx="36495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</a:t>
            </a:r>
            <a:r>
              <a:rPr lang="en-US" baseline="0">
                <a:solidFill>
                  <a:srgbClr val="A5CD00"/>
                </a:solidFill>
              </a:rPr>
              <a:t>free PowerPoint template </a:t>
            </a:r>
            <a:r>
              <a:rPr lang="en-US" baseline="0" dirty="0">
                <a:solidFill>
                  <a:srgbClr val="A5CD00"/>
                </a:solidFill>
              </a:rPr>
              <a:t>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1974850"/>
            <a:ext cx="2224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029355"/>
            <a:ext cx="261456" cy="167993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0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image" Target="../media/image37.png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hyperlink" Target="http://www.presentationgo.com/" TargetMode="Externa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  <p:sldLayoutId id="2147483731" r:id="rId57"/>
    <p:sldLayoutId id="2147483732" r:id="rId58"/>
    <p:sldLayoutId id="2147483733" r:id="rId59"/>
    <p:sldLayoutId id="2147483734" r:id="rId60"/>
    <p:sldLayoutId id="2147483735" r:id="rId6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6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7" name="Google Shape;527;p6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ABCEAB2-FBDF-46DE-8DD3-07B5136284FA}"/>
              </a:ext>
            </a:extLst>
          </p:cNvPr>
          <p:cNvSpPr/>
          <p:nvPr/>
        </p:nvSpPr>
        <p:spPr>
          <a:xfrm>
            <a:off x="1371600" y="1171576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7E6ECE6-8137-4F41-A6F0-DC9623651236}"/>
              </a:ext>
            </a:extLst>
          </p:cNvPr>
          <p:cNvSpPr/>
          <p:nvPr/>
        </p:nvSpPr>
        <p:spPr>
          <a:xfrm>
            <a:off x="356109" y="356108"/>
            <a:ext cx="8431785" cy="4431285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12DC555-B169-430C-85D9-8F1BCAF97743}"/>
              </a:ext>
            </a:extLst>
          </p:cNvPr>
          <p:cNvSpPr/>
          <p:nvPr/>
        </p:nvSpPr>
        <p:spPr>
          <a:xfrm>
            <a:off x="356109" y="354286"/>
            <a:ext cx="8431785" cy="1023223"/>
          </a:xfrm>
          <a:custGeom>
            <a:avLst/>
            <a:gdLst>
              <a:gd name="connsiteX0" fmla="*/ 104578 w 11242380"/>
              <a:gd name="connsiteY0" fmla="*/ 0 h 1364297"/>
              <a:gd name="connsiteX1" fmla="*/ 11137802 w 11242380"/>
              <a:gd name="connsiteY1" fmla="*/ 0 h 1364297"/>
              <a:gd name="connsiteX2" fmla="*/ 11242380 w 11242380"/>
              <a:gd name="connsiteY2" fmla="*/ 104578 h 1364297"/>
              <a:gd name="connsiteX3" fmla="*/ 11242380 w 11242380"/>
              <a:gd name="connsiteY3" fmla="*/ 1364297 h 1364297"/>
              <a:gd name="connsiteX4" fmla="*/ 0 w 11242380"/>
              <a:gd name="connsiteY4" fmla="*/ 1364297 h 1364297"/>
              <a:gd name="connsiteX5" fmla="*/ 0 w 11242380"/>
              <a:gd name="connsiteY5" fmla="*/ 104578 h 1364297"/>
              <a:gd name="connsiteX6" fmla="*/ 104578 w 11242380"/>
              <a:gd name="connsiteY6" fmla="*/ 0 h 13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2380" h="1364297">
                <a:moveTo>
                  <a:pt x="104578" y="0"/>
                </a:moveTo>
                <a:lnTo>
                  <a:pt x="11137802" y="0"/>
                </a:lnTo>
                <a:cubicBezTo>
                  <a:pt x="11195559" y="0"/>
                  <a:pt x="11242380" y="46821"/>
                  <a:pt x="11242380" y="104578"/>
                </a:cubicBezTo>
                <a:lnTo>
                  <a:pt x="11242380" y="1364297"/>
                </a:lnTo>
                <a:lnTo>
                  <a:pt x="0" y="1364297"/>
                </a:lnTo>
                <a:lnTo>
                  <a:pt x="0" y="104578"/>
                </a:lnTo>
                <a:cubicBezTo>
                  <a:pt x="0" y="46821"/>
                  <a:pt x="46821" y="0"/>
                  <a:pt x="10457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33523"/>
            <a:ext cx="7886700" cy="324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495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pPr algn="r"/>
            <a:fld id="{1C0DB9A4-7C00-41BB-B303-4E91C20728DD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3856"/>
            <a:ext cx="7886700" cy="101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0A3E62-9D04-42CF-968F-5F6E2C124DB8}"/>
              </a:ext>
            </a:extLst>
          </p:cNvPr>
          <p:cNvSpPr/>
          <p:nvPr/>
        </p:nvSpPr>
        <p:spPr>
          <a:xfrm>
            <a:off x="-88899" y="5219701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14" tooltip="PresentationGo!"/>
              </a:rPr>
              <a:t>presentationgo.com</a:t>
            </a:r>
            <a:endParaRPr lang="en-US" sz="1100" dirty="0"/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B356D5FC-88A6-4DDA-911C-2AF338BB6929}"/>
              </a:ext>
            </a:extLst>
          </p:cNvPr>
          <p:cNvGrpSpPr/>
          <p:nvPr/>
        </p:nvGrpSpPr>
        <p:grpSpPr>
          <a:xfrm>
            <a:off x="-1654908" y="-55353"/>
            <a:ext cx="1556359" cy="520664"/>
            <a:chOff x="-2096383" y="21447"/>
            <a:chExt cx="1556359" cy="69421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DEBD7C-F558-4D4F-8E49-929D46967D92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9012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9E32DC-7D1B-4F0A-8A94-9976C83581EE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61986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DF23B40-7BE1-43AB-84F8-8890236A61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151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D686E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D686E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D686E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IN"/>
              <a:t>CS-409: </a:t>
            </a:r>
            <a:r>
              <a:rPr lang="el-GR"/>
              <a:t>Αντικειμενοστρεφής 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4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9346" y="267494"/>
            <a:ext cx="8749718" cy="194421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FINAL YEAR RESEARCH PROJECT </a:t>
            </a:r>
          </a:p>
          <a:p>
            <a:pPr algn="ctr">
              <a:lnSpc>
                <a:spcPct val="100000"/>
              </a:lnSpc>
            </a:pPr>
            <a:r>
              <a:rPr lang="en-US" sz="24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End-Term Presentation</a:t>
            </a:r>
          </a:p>
          <a:p>
            <a:pPr algn="ctr">
              <a:lnSpc>
                <a:spcPct val="100000"/>
              </a:lnSpc>
            </a:pPr>
            <a:r>
              <a:rPr lang="en-US" sz="1100" dirty="0">
                <a:latin typeface="Bebas Neue"/>
              </a:rPr>
              <a:t/>
            </a:r>
            <a:br>
              <a:rPr lang="en-US" sz="1100" dirty="0">
                <a:latin typeface="Bebas Neue"/>
              </a:rPr>
            </a:br>
            <a:r>
              <a:rPr lang="en-US" sz="2800" spc="-1" dirty="0">
                <a:solidFill>
                  <a:srgbClr val="572314"/>
                </a:solidFill>
                <a:latin typeface="Bebas Neue"/>
              </a:rPr>
              <a:t>Multimodal Depression detection using speech and linguistic </a:t>
            </a:r>
            <a:r>
              <a:rPr lang="en-US" sz="2800" spc="-1" dirty="0" err="1">
                <a:solidFill>
                  <a:srgbClr val="572314"/>
                </a:solidFill>
                <a:latin typeface="Bebas Neue"/>
              </a:rPr>
              <a:t>behaviour</a:t>
            </a:r>
            <a:r>
              <a:rPr lang="en-US" sz="2800" spc="-1" dirty="0">
                <a:solidFill>
                  <a:srgbClr val="572314"/>
                </a:solidFill>
                <a:latin typeface="Bebas Neue"/>
              </a:rPr>
              <a:t>            analysis across conversational phases</a:t>
            </a:r>
            <a:endParaRPr lang="en-US" sz="2800" b="0" strike="noStrike" spc="-1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98612" y="2283718"/>
            <a:ext cx="6400440" cy="647730"/>
          </a:xfrm>
          <a:prstGeom prst="rect">
            <a:avLst/>
          </a:prstGeom>
          <a:noFill/>
          <a:ln>
            <a:noFill/>
          </a:ln>
        </p:spPr>
        <p:txBody>
          <a:bodyPr lIns="90000" tIns="0" rIns="90000" bIns="45000">
            <a:normAutofit fontScale="94000"/>
          </a:bodyPr>
          <a:lstStyle/>
          <a:p>
            <a:pPr marL="27360">
              <a:lnSpc>
                <a:spcPct val="100000"/>
              </a:lnSpc>
              <a:spcBef>
                <a:spcPts val="601"/>
              </a:spcBef>
            </a:pPr>
            <a:r>
              <a:rPr lang="en-IN" sz="1700" b="1" strike="noStrike" spc="-1" dirty="0">
                <a:solidFill>
                  <a:srgbClr val="0070C0"/>
                </a:solidFill>
                <a:latin typeface="Gill Sans MT"/>
              </a:rPr>
              <a:t>Supervised By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:</a:t>
            </a:r>
            <a:r>
              <a:rPr lang="en-IN" sz="1700" spc="-1" dirty="0">
                <a:latin typeface="Arial"/>
              </a:rPr>
              <a:t> </a:t>
            </a:r>
            <a:r>
              <a:rPr lang="en-IN" sz="1700" b="1" spc="-1" dirty="0">
                <a:solidFill>
                  <a:srgbClr val="361309"/>
                </a:solidFill>
                <a:latin typeface="Gill Sans MT"/>
              </a:rPr>
              <a:t>Ms. Ruby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 </a:t>
            </a:r>
            <a:endParaRPr lang="en-IN" sz="1700" b="0" strike="noStrike" spc="-1" dirty="0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95536" y="2859782"/>
            <a:ext cx="3672408" cy="33225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Group No.: 33-14</a:t>
            </a:r>
          </a:p>
          <a:p>
            <a:pPr>
              <a:lnSpc>
                <a:spcPct val="100000"/>
              </a:lnSpc>
            </a:pPr>
            <a:endParaRPr lang="en-IN" sz="1400" b="0" strike="noStrike" spc="-1" dirty="0">
              <a:solidFill>
                <a:srgbClr val="0070C0"/>
              </a:solidFill>
              <a:latin typeface="Arial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IN" sz="1400" strike="noStrike" spc="-1" dirty="0">
                <a:solidFill>
                  <a:srgbClr val="000000"/>
                </a:solidFill>
                <a:latin typeface="Bebas Neue" panose="020B0606020202050201" pitchFamily="34" charset="0"/>
              </a:rPr>
              <a:t>DEBI PRASAD </a:t>
            </a:r>
            <a:r>
              <a:rPr lang="en-IN" sz="1400" spc="-1" dirty="0">
                <a:solidFill>
                  <a:srgbClr val="000000"/>
                </a:solidFill>
                <a:latin typeface="Bebas Neue" panose="020B0606020202050201" pitchFamily="34" charset="0"/>
              </a:rPr>
              <a:t>NANDA (2241014018)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IN" sz="1400" spc="-1" dirty="0">
                <a:solidFill>
                  <a:srgbClr val="000000"/>
                </a:solidFill>
                <a:latin typeface="Bebas Neue" panose="020B0606020202050201" pitchFamily="34" charset="0"/>
              </a:rPr>
              <a:t>DEBASISH NANDA (2241014017)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IN" sz="1400" spc="-1" dirty="0">
                <a:solidFill>
                  <a:srgbClr val="000000"/>
                </a:solidFill>
                <a:latin typeface="Bebas Neue" panose="020B0606020202050201" pitchFamily="34" charset="0"/>
              </a:rPr>
              <a:t>CHANDNA NAYAK (2241014072)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IN" sz="1400" spc="-1" dirty="0">
                <a:solidFill>
                  <a:srgbClr val="000000"/>
                </a:solidFill>
                <a:latin typeface="Bebas Neue" panose="020B0606020202050201" pitchFamily="34" charset="0"/>
              </a:rPr>
              <a:t>PUSHPAJA PRIYADARSHINI (2241016474)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IN" sz="1400" spc="-1" dirty="0">
                <a:solidFill>
                  <a:srgbClr val="000000"/>
                </a:solidFill>
                <a:latin typeface="Bebas Neue" panose="020B0606020202050201" pitchFamily="34" charset="0"/>
              </a:rPr>
              <a:t>PRABYASACHI MOHANTY (2241013258)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IN" sz="1400" spc="-1" dirty="0">
              <a:solidFill>
                <a:srgbClr val="000000"/>
              </a:solidFill>
              <a:latin typeface="Bebas Neue" panose="020B0606020202050201" pitchFamily="34" charset="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IN" sz="1400" b="0" strike="noStrike" spc="-1" dirty="0">
              <a:latin typeface="Bebas Neue" panose="020B0606020202050201" pitchFamily="34" charset="0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5292080" y="3944752"/>
            <a:ext cx="3728904" cy="10449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Department of Computer Sc. and Engineering</a:t>
            </a:r>
            <a:endParaRPr lang="en-IN" sz="1400" b="1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Gill Sans MT"/>
              </a:rPr>
              <a:t>Faculty of Engineering &amp; Technology (ITER)</a:t>
            </a:r>
            <a:endParaRPr lang="en-IN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Siksha ‘O’ </a:t>
            </a:r>
            <a:r>
              <a:rPr lang="en-IN" sz="1100" b="1" strike="noStrike" spc="-1" dirty="0" err="1">
                <a:solidFill>
                  <a:srgbClr val="000000"/>
                </a:solidFill>
                <a:latin typeface="Gill Sans MT"/>
              </a:rPr>
              <a:t>Anusandhan</a:t>
            </a: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 (Deemed to be) University</a:t>
            </a:r>
            <a:r>
              <a:rPr lang="en-IN" sz="1100" b="0" strike="noStrike" spc="-1" dirty="0">
                <a:solidFill>
                  <a:srgbClr val="000000"/>
                </a:solidFill>
                <a:latin typeface="Gill Sans M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Bhubaneswar, Odisha</a:t>
            </a:r>
            <a:endParaRPr lang="en-IN" sz="1100" b="0" strike="noStrike" spc="-1" dirty="0">
              <a:latin typeface="Arial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0" name="Picture 3"/>
          <p:cNvPicPr/>
          <p:nvPr/>
        </p:nvPicPr>
        <p:blipFill>
          <a:blip r:embed="rId2" cstate="print"/>
          <a:stretch/>
        </p:blipFill>
        <p:spPr>
          <a:xfrm>
            <a:off x="8172400" y="357480"/>
            <a:ext cx="826880" cy="7741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617894" y="73712"/>
            <a:ext cx="8361928" cy="76814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9000" lnSpcReduction="20000"/>
          </a:bodyPr>
          <a:lstStyle/>
          <a:p>
            <a:pPr>
              <a:lnSpc>
                <a:spcPct val="100000"/>
              </a:lnSpc>
            </a:pPr>
            <a:endParaRPr lang="en-US" sz="4700" b="1" strike="noStrike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7700" b="1" strike="noStrike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Presentation Outline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endParaRPr lang="en-US" sz="43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755576" y="600782"/>
            <a:ext cx="8086564" cy="4320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Problem Statement &amp; Motivations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Problem Statement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Motivations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Literature Review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400" spc="-1" dirty="0">
                <a:solidFill>
                  <a:srgbClr val="000000"/>
                </a:solidFill>
                <a:latin typeface="Gill Sans MT"/>
              </a:rPr>
              <a:t>Existing Solutions &amp; Limitations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Proposed Methodology &amp; Approach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Key Components/Modules &amp; Algorithms Used</a:t>
            </a:r>
            <a:endParaRPr lang="en-US" sz="1600" spc="-1" dirty="0">
              <a:latin typeface="Gill Sans MT"/>
            </a:endParaRP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Dataset(s) &amp; Tools/Technologies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Experimentation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System Specification 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Experimental Results 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Performance Analysis</a:t>
            </a:r>
            <a:endParaRPr lang="en-IN" sz="1400" spc="-1" dirty="0">
              <a:latin typeface="Gill Sans MT"/>
            </a:endParaRP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Conclusion and Future Scope</a:t>
            </a:r>
          </a:p>
          <a:p>
            <a:pPr marL="3657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da-DK" sz="1600" spc="-1" dirty="0">
                <a:latin typeface="Gill Sans MT"/>
              </a:rPr>
              <a:t>References</a:t>
            </a:r>
            <a:endParaRPr lang="en-US" sz="1600" spc="-1" dirty="0">
              <a:latin typeface="Gill Sans MT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4" name="Picture 2"/>
          <p:cNvPicPr/>
          <p:nvPr/>
        </p:nvPicPr>
        <p:blipFill>
          <a:blip r:embed="rId4" cstate="print"/>
          <a:stretch/>
        </p:blipFill>
        <p:spPr>
          <a:xfrm>
            <a:off x="8207896" y="0"/>
            <a:ext cx="936104" cy="915566"/>
          </a:xfrm>
          <a:prstGeom prst="rect">
            <a:avLst/>
          </a:prstGeom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Gill Sans MT"/>
              </a:rPr>
              <a:t>Depression is a serious and widespread mental health disorder that often remains undiagnosed or untreated.</a:t>
            </a:r>
          </a:p>
          <a:p>
            <a:endParaRPr lang="en-US" sz="1600" spc="-1" dirty="0">
              <a:solidFill>
                <a:srgbClr val="000000"/>
              </a:solidFill>
              <a:latin typeface="Gill Sans 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Gill Sans MT"/>
              </a:rPr>
              <a:t>Traditional diagnosis relies on clinical assessments, which are time-consuming, subjective, and require expert intervention.</a:t>
            </a:r>
          </a:p>
          <a:p>
            <a:endParaRPr lang="en-US" sz="1600" spc="-1" dirty="0">
              <a:solidFill>
                <a:srgbClr val="000000"/>
              </a:solidFill>
              <a:latin typeface="Gill Sans 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Gill Sans MT"/>
              </a:rPr>
              <a:t>There is a growing need for automated and scalable systems that can detect depression early by analyzing behavioral signals such as speech patterns and linguistic expressions.</a:t>
            </a:r>
          </a:p>
          <a:p>
            <a:r>
              <a:rPr lang="en-US" sz="2800" spc="-1" dirty="0">
                <a:solidFill>
                  <a:srgbClr val="000000"/>
                </a:solidFill>
                <a:latin typeface="Gill Sans MT"/>
              </a:rPr>
              <a:t>	</a:t>
            </a: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73832" y="-15663"/>
            <a:ext cx="970168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Motivations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Gill Sans MT"/>
              </a:rPr>
              <a:t>Early detection of depression can help prevent severe psychological and social consequences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Gill Sans MT"/>
              </a:rPr>
              <a:t>Speech and language patterns provide valuable insights into an individual’s mental state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Gill Sans MT"/>
              </a:rPr>
              <a:t>The availability of conversational datasets enables large-scale automated analysis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Gill Sans MT"/>
              </a:rPr>
              <a:t>AI-based systems can assist clinicians by providing objective and scalable mental health assessment tools </a:t>
            </a:r>
          </a:p>
          <a:p>
            <a:endParaRPr lang="en-US" sz="16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16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16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1600" b="0" strike="noStrike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en-US" sz="16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4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Shape 1">
            <a:extLst>
              <a:ext uri="{FF2B5EF4-FFF2-40B4-BE49-F238E27FC236}">
                <a16:creationId xmlns:a16="http://schemas.microsoft.com/office/drawing/2014/main" id="{A725D25B-51E8-E50A-388B-AE5EC03B8E1B}"/>
              </a:ext>
            </a:extLst>
          </p:cNvPr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r>
              <a:rPr dirty="0"/>
              <a:t/>
            </a: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0" name="TextShape 3">
            <a:extLst>
              <a:ext uri="{FF2B5EF4-FFF2-40B4-BE49-F238E27FC236}">
                <a16:creationId xmlns:a16="http://schemas.microsoft.com/office/drawing/2014/main" id="{0E5327BD-9B35-1BE1-3983-E8BD7567487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AB59364-C07C-3856-1CA8-B3E79D4213DD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877988-C40E-5A17-8F1D-344BA4A9FA88}"/>
              </a:ext>
            </a:extLst>
          </p:cNvPr>
          <p:cNvSpPr txBox="1"/>
          <p:nvPr/>
        </p:nvSpPr>
        <p:spPr>
          <a:xfrm>
            <a:off x="303672" y="519540"/>
            <a:ext cx="6500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Table 1:Summary of Existing Approaches and Research </a:t>
            </a:r>
            <a:r>
              <a:rPr lang="en-IN" sz="1200" dirty="0"/>
              <a:t>Limitations</a:t>
            </a:r>
          </a:p>
          <a:p>
            <a:endParaRPr lang="en-IN" sz="12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5C22365-C040-6116-611F-AE255ED80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985549"/>
              </p:ext>
            </p:extLst>
          </p:nvPr>
        </p:nvGraphicFramePr>
        <p:xfrm>
          <a:off x="384120" y="1046844"/>
          <a:ext cx="8229600" cy="3435480"/>
        </p:xfrm>
        <a:graphic>
          <a:graphicData uri="http://schemas.openxmlformats.org/drawingml/2006/table">
            <a:tbl>
              <a:tblPr/>
              <a:tblGrid>
                <a:gridCol w="587480">
                  <a:extLst>
                    <a:ext uri="{9D8B030D-6E8A-4147-A177-3AD203B41FA5}">
                      <a16:colId xmlns:a16="http://schemas.microsoft.com/office/drawing/2014/main" val="3455526793"/>
                    </a:ext>
                  </a:extLst>
                </a:gridCol>
                <a:gridCol w="1122458">
                  <a:extLst>
                    <a:ext uri="{9D8B030D-6E8A-4147-A177-3AD203B41FA5}">
                      <a16:colId xmlns:a16="http://schemas.microsoft.com/office/drawing/2014/main" val="2283490085"/>
                    </a:ext>
                  </a:extLst>
                </a:gridCol>
                <a:gridCol w="2181644">
                  <a:extLst>
                    <a:ext uri="{9D8B030D-6E8A-4147-A177-3AD203B41FA5}">
                      <a16:colId xmlns:a16="http://schemas.microsoft.com/office/drawing/2014/main" val="3991953281"/>
                    </a:ext>
                  </a:extLst>
                </a:gridCol>
                <a:gridCol w="825487">
                  <a:extLst>
                    <a:ext uri="{9D8B030D-6E8A-4147-A177-3AD203B41FA5}">
                      <a16:colId xmlns:a16="http://schemas.microsoft.com/office/drawing/2014/main" val="2883266699"/>
                    </a:ext>
                  </a:extLst>
                </a:gridCol>
                <a:gridCol w="1631051">
                  <a:extLst>
                    <a:ext uri="{9D8B030D-6E8A-4147-A177-3AD203B41FA5}">
                      <a16:colId xmlns:a16="http://schemas.microsoft.com/office/drawing/2014/main" val="2851084725"/>
                    </a:ext>
                  </a:extLst>
                </a:gridCol>
                <a:gridCol w="1881480">
                  <a:extLst>
                    <a:ext uri="{9D8B030D-6E8A-4147-A177-3AD203B41FA5}">
                      <a16:colId xmlns:a16="http://schemas.microsoft.com/office/drawing/2014/main" val="3574824554"/>
                    </a:ext>
                  </a:extLst>
                </a:gridCol>
              </a:tblGrid>
              <a:tr h="3727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 No.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 &amp; Year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Methods/Techniques Used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Used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Outcomes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Findings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252693"/>
                  </a:ext>
                </a:extLst>
              </a:tr>
              <a:tr h="10029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Guo et al. (2022)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 Extraction: Transformer-based (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RoBERTa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wav2vec 2.0) with Topic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AttentionClassification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Two-branch multimodal transformer with late fusion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DAIC-WOZ dataset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Accuracy: 90%+ (reported improvement)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 Improved via attention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 use of topic-level attention improves detection; handles data scarcity using pre-trained models but still limited by small dataset size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636731"/>
                  </a:ext>
                </a:extLst>
              </a:tr>
              <a:tr h="10029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Gan et al. (2025)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 Extraction: LLM (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LLaMA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), Audio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processingClassification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Teacher–Student multimodal fusion with attention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DAIC-WOZ dataset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 Score: 99.1%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high accuracy using teacher-student architecture; strong multimodal fusion but computationally complex and data-dependent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421161"/>
                  </a:ext>
                </a:extLst>
              </a:tr>
              <a:tr h="10029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Gong &amp;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Poellabauer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(2017)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 Extraction: Topic Modeling (context-aware segmentation)Classification: Multimodal feature vector + feature selection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DAIC-WOZ dataset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Improved performance over baseline methods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Captures temporal/contextual details effectively; limited by small sample size and feature dimensionality issues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500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554BE-FF0C-E58B-7414-9A0430385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3">
            <a:extLst>
              <a:ext uri="{FF2B5EF4-FFF2-40B4-BE49-F238E27FC236}">
                <a16:creationId xmlns:a16="http://schemas.microsoft.com/office/drawing/2014/main" id="{0546CCE4-A81E-FFA0-8A57-68D95F8F7027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6</a:t>
            </a:fld>
            <a:endParaRPr lang="en-IN" sz="1200" b="0" strike="noStrike" spc="-1">
              <a:latin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27836C-8FE1-D54D-C175-354CF90A4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757408"/>
              </p:ext>
            </p:extLst>
          </p:nvPr>
        </p:nvGraphicFramePr>
        <p:xfrm>
          <a:off x="384120" y="627534"/>
          <a:ext cx="8229600" cy="4297817"/>
        </p:xfrm>
        <a:graphic>
          <a:graphicData uri="http://schemas.openxmlformats.org/drawingml/2006/table">
            <a:tbl>
              <a:tblPr/>
              <a:tblGrid>
                <a:gridCol w="587480">
                  <a:extLst>
                    <a:ext uri="{9D8B030D-6E8A-4147-A177-3AD203B41FA5}">
                      <a16:colId xmlns:a16="http://schemas.microsoft.com/office/drawing/2014/main" val="3455526793"/>
                    </a:ext>
                  </a:extLst>
                </a:gridCol>
                <a:gridCol w="1122458">
                  <a:extLst>
                    <a:ext uri="{9D8B030D-6E8A-4147-A177-3AD203B41FA5}">
                      <a16:colId xmlns:a16="http://schemas.microsoft.com/office/drawing/2014/main" val="2283490085"/>
                    </a:ext>
                  </a:extLst>
                </a:gridCol>
                <a:gridCol w="2181644">
                  <a:extLst>
                    <a:ext uri="{9D8B030D-6E8A-4147-A177-3AD203B41FA5}">
                      <a16:colId xmlns:a16="http://schemas.microsoft.com/office/drawing/2014/main" val="3991953281"/>
                    </a:ext>
                  </a:extLst>
                </a:gridCol>
                <a:gridCol w="825487">
                  <a:extLst>
                    <a:ext uri="{9D8B030D-6E8A-4147-A177-3AD203B41FA5}">
                      <a16:colId xmlns:a16="http://schemas.microsoft.com/office/drawing/2014/main" val="2883266699"/>
                    </a:ext>
                  </a:extLst>
                </a:gridCol>
                <a:gridCol w="1631051">
                  <a:extLst>
                    <a:ext uri="{9D8B030D-6E8A-4147-A177-3AD203B41FA5}">
                      <a16:colId xmlns:a16="http://schemas.microsoft.com/office/drawing/2014/main" val="2851084725"/>
                    </a:ext>
                  </a:extLst>
                </a:gridCol>
                <a:gridCol w="1881480">
                  <a:extLst>
                    <a:ext uri="{9D8B030D-6E8A-4147-A177-3AD203B41FA5}">
                      <a16:colId xmlns:a16="http://schemas.microsoft.com/office/drawing/2014/main" val="3574824554"/>
                    </a:ext>
                  </a:extLst>
                </a:gridCol>
              </a:tblGrid>
              <a:tr h="746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 No.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 &amp; Year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Methods/Techniques Used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Used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Outcomes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Findings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389868"/>
                  </a:ext>
                </a:extLst>
              </a:tr>
              <a:tr h="673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Nykoniuk et al. (2025)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 Extraction: CNN + Bi-LSTM + Self-AttentionClassification: Early and Late Fusion models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DAIC-WOZ, EDAIC-WOZ datasets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Accuracy: 86%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 Score: 0.79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Early fusion performs better; multimodal improves accuracy but dataset imbalance affects reliability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252693"/>
                  </a:ext>
                </a:extLst>
              </a:tr>
              <a:tr h="886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Yoo &amp; Oh (2023)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 Extraction: CNN (audio), Transformer (text)Classification: Tensor Fusion Network + LSTM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DAIC-WOZ dataset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 improvement (no exact metrics provided)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Fusion of text and voice improves detection; lacks detailed quantitative evaluation and scalability analysis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636731"/>
                  </a:ext>
                </a:extLst>
              </a:tr>
              <a:tr h="886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Xu et al. (2025)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 Extraction: BERT (text), wav2vec 2.0 (audio)Classification: Bi-LSTM + multi-scale convolution + adaptive pooling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CMDC &amp; DAIC-WOZ datasets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 Score: Improved significantly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RMSE reduced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 cross-modal feature integration; handles multiple datasets but requires large training data and complex architecture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421161"/>
                  </a:ext>
                </a:extLst>
              </a:tr>
              <a:tr h="886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Park &amp; Moon (2022)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 Extraction: BERT-CNN (text), CNN-BiLSTM (audio)Classification: Attention-based multimodal fusion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DAIC-WOZ dataset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Improved accuracy over single-modal models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Attention-based fusion improves accuracy; still dependent on quality of preprocessing and multimodal alignment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50084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1FDF4225-AC4B-0994-3E74-64C764162008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sp>
        <p:nvSpPr>
          <p:cNvPr id="7" name="TextShape 1">
            <a:extLst>
              <a:ext uri="{FF2B5EF4-FFF2-40B4-BE49-F238E27FC236}">
                <a16:creationId xmlns:a16="http://schemas.microsoft.com/office/drawing/2014/main" id="{50A72898-23CD-A9BD-81FC-F8697C240C5F}"/>
              </a:ext>
            </a:extLst>
          </p:cNvPr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r>
              <a:rPr dirty="0"/>
              <a:t/>
            </a: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639987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1">
            <a:extLst>
              <a:ext uri="{FF2B5EF4-FFF2-40B4-BE49-F238E27FC236}">
                <a16:creationId xmlns:a16="http://schemas.microsoft.com/office/drawing/2014/main" id="{7E31AE12-32C1-B318-AB08-BF15A2C530F4}"/>
              </a:ext>
            </a:extLst>
          </p:cNvPr>
          <p:cNvSpPr txBox="1"/>
          <p:nvPr/>
        </p:nvSpPr>
        <p:spPr>
          <a:xfrm>
            <a:off x="455038" y="58586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Research Gap &amp; Improvements</a:t>
            </a:r>
          </a:p>
        </p:txBody>
      </p:sp>
      <p:sp>
        <p:nvSpPr>
          <p:cNvPr id="7" name="TextShape 2">
            <a:extLst>
              <a:ext uri="{FF2B5EF4-FFF2-40B4-BE49-F238E27FC236}">
                <a16:creationId xmlns:a16="http://schemas.microsoft.com/office/drawing/2014/main" id="{2DD38269-4EB0-3EF1-1A04-8FD526A16289}"/>
              </a:ext>
            </a:extLst>
          </p:cNvPr>
          <p:cNvSpPr txBox="1"/>
          <p:nvPr/>
        </p:nvSpPr>
        <p:spPr>
          <a:xfrm>
            <a:off x="408774" y="843558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Most existing approaches treat the entire interview as a single unit for analysis  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This global representation fails to capture temporal variations in speech and behavioral patterns  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Important changes in emotional state, hesitation, and response patterns across different stages of the conversation are overlooked  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As a result, subtle indicators of depression that emerge gradually may not be effectively detected  </a:t>
            </a:r>
          </a:p>
          <a:p>
            <a:pPr lvl="0">
              <a:defRPr/>
            </a:pPr>
            <a:endParaRPr lang="en-US" sz="1400" spc="-1" dirty="0">
              <a:solidFill>
                <a:srgbClr val="000000"/>
              </a:solidFill>
              <a:latin typeface="Gill Sans MT"/>
            </a:endParaRPr>
          </a:p>
          <a:p>
            <a:pPr lvl="0">
              <a:defRPr/>
            </a:pPr>
            <a:endParaRPr lang="en-US" sz="1400" spc="-1" dirty="0">
              <a:solidFill>
                <a:srgbClr val="000000"/>
              </a:solidFill>
              <a:latin typeface="Gill Sans MT"/>
            </a:endParaRPr>
          </a:p>
          <a:p>
            <a:pPr lvl="0">
              <a:defRPr/>
            </a:pPr>
            <a:r>
              <a:rPr lang="en-US" sz="1400" b="1" spc="-1" dirty="0">
                <a:solidFill>
                  <a:srgbClr val="000000"/>
                </a:solidFill>
                <a:latin typeface="Gill Sans MT"/>
              </a:rPr>
              <a:t>Proposed Improvement: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 smtClean="0">
                <a:solidFill>
                  <a:srgbClr val="000000"/>
                </a:solidFill>
                <a:latin typeface="Gill Sans MT"/>
              </a:rPr>
              <a:t>The proposed system analyzes depression across three conversational phases i.e. beginning, middle, and end of the interview. 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 smtClean="0">
                <a:solidFill>
                  <a:srgbClr val="000000"/>
                </a:solidFill>
                <a:latin typeface="Gill Sans MT"/>
              </a:rPr>
              <a:t>For each phase, the model generates a depression probability score based on both audio and linguistic features. 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 smtClean="0">
                <a:solidFill>
                  <a:srgbClr val="000000"/>
                </a:solidFill>
                <a:latin typeface="Gill Sans MT"/>
              </a:rPr>
              <a:t>These phase-wise scores are then compared to identify in which phase depression indicators are most prominent. 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 smtClean="0">
                <a:solidFill>
                  <a:srgbClr val="000000"/>
                </a:solidFill>
                <a:latin typeface="Gill Sans MT"/>
              </a:rPr>
              <a:t>This allows us to understand how depressive behavior evolves during the conversation and determine the phase where depression is most clearly detectable.</a:t>
            </a:r>
          </a:p>
          <a:p>
            <a:pPr lvl="0">
              <a:defRPr/>
            </a:pPr>
            <a:endParaRPr kumimoji="0" lang="en-US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lvl="0">
              <a:defRPr/>
            </a:pPr>
            <a:r>
              <a:rPr lang="en-US" sz="1400" i="1" spc="-1" dirty="0">
                <a:solidFill>
                  <a:srgbClr val="000000"/>
                </a:solidFill>
                <a:latin typeface="Gill Sans MT"/>
              </a:rPr>
              <a:t>“We are not just predicting depression, </a:t>
            </a:r>
          </a:p>
          <a:p>
            <a:pPr lvl="0">
              <a:defRPr/>
            </a:pPr>
            <a:r>
              <a:rPr lang="en-US" sz="1400" i="1" spc="-1" dirty="0">
                <a:solidFill>
                  <a:srgbClr val="000000"/>
                </a:solidFill>
                <a:latin typeface="Gill Sans MT"/>
              </a:rPr>
              <a:t>we are analyzing how depression signals change across different phases of the conversation.”</a:t>
            </a:r>
            <a:endParaRPr kumimoji="0" lang="en-US" sz="1400" b="0" i="1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TextShape 3">
            <a:extLst>
              <a:ext uri="{FF2B5EF4-FFF2-40B4-BE49-F238E27FC236}">
                <a16:creationId xmlns:a16="http://schemas.microsoft.com/office/drawing/2014/main" id="{454564DA-C2AD-FB98-6A8F-FD9EDBBEB6FA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82EE60E-1386-CA8D-E070-3A59EC6E094C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3464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783AA-D488-E647-AEF1-BF90E53B6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Shape 1">
            <a:extLst>
              <a:ext uri="{FF2B5EF4-FFF2-40B4-BE49-F238E27FC236}">
                <a16:creationId xmlns:a16="http://schemas.microsoft.com/office/drawing/2014/main" id="{1DAC021D-1774-73E1-EC7F-67EFB8429CCD}"/>
              </a:ext>
            </a:extLst>
          </p:cNvPr>
          <p:cNvSpPr txBox="1"/>
          <p:nvPr/>
        </p:nvSpPr>
        <p:spPr>
          <a:xfrm>
            <a:off x="511296" y="115547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</a:p>
        </p:txBody>
      </p:sp>
      <p:sp>
        <p:nvSpPr>
          <p:cNvPr id="12" name="TextShape 3">
            <a:extLst>
              <a:ext uri="{FF2B5EF4-FFF2-40B4-BE49-F238E27FC236}">
                <a16:creationId xmlns:a16="http://schemas.microsoft.com/office/drawing/2014/main" id="{FF116918-142F-95C4-37BD-DE689EBE52DD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48E038E-EBB9-5467-593C-BA8B0B0E933C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07C2719-17D3-E5D0-5F2B-4B82B83C60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1650" y="771550"/>
            <a:ext cx="6228691" cy="41524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57FAD7-873C-8C48-11A1-DEE76EF4A666}"/>
              </a:ext>
            </a:extLst>
          </p:cNvPr>
          <p:cNvSpPr txBox="1"/>
          <p:nvPr/>
        </p:nvSpPr>
        <p:spPr>
          <a:xfrm>
            <a:off x="2411760" y="4512360"/>
            <a:ext cx="3744416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50" dirty="0"/>
          </a:p>
          <a:p>
            <a:pPr algn="ctr"/>
            <a:endParaRPr lang="en-US" sz="1050" dirty="0"/>
          </a:p>
          <a:p>
            <a:pPr algn="ctr"/>
            <a:r>
              <a:rPr lang="en-US" sz="1050" dirty="0"/>
              <a:t>Fig. 2: Schematic Model Diagram of the Proposed Model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73448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59BD-49C5-EEF4-69EB-420E3CAA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981E9F91-F689-9374-B286-5AFB6B61C022}"/>
              </a:ext>
            </a:extLst>
          </p:cNvPr>
          <p:cNvSpPr txBox="1"/>
          <p:nvPr/>
        </p:nvSpPr>
        <p:spPr>
          <a:xfrm>
            <a:off x="539552" y="617656"/>
            <a:ext cx="63367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Gill Sans MT" panose="020B0502020104020203" pitchFamily="34" charset="0"/>
              </a:rPr>
              <a:t>The proposed system performs multimodal depression detection by utilizing both audio and textual data from clinical interviews.</a:t>
            </a:r>
          </a:p>
          <a:p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Gill Sans MT" panose="020B0502020104020203" pitchFamily="34" charset="0"/>
              </a:rPr>
              <a:t>Initially</a:t>
            </a:r>
            <a:r>
              <a:rPr lang="en-US" sz="1400" dirty="0">
                <a:latin typeface="Gill Sans MT" panose="020B0502020104020203" pitchFamily="34" charset="0"/>
              </a:rPr>
              <a:t>, the audio recordings and corresponding transcripts are preprocessed to retain only participant responses and remove irrelevant segments.</a:t>
            </a:r>
          </a:p>
          <a:p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Gill Sans MT" panose="020B0502020104020203" pitchFamily="34" charset="0"/>
              </a:rPr>
              <a:t>The interview is then segmented into multiple conversational phases (beginning, middle, and end) to capture temporal variations in behavior.</a:t>
            </a:r>
          </a:p>
          <a:p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Gill Sans MT" panose="020B0502020104020203" pitchFamily="34" charset="0"/>
              </a:rPr>
              <a:t>Feature extraction is performed separately for each phase, where acoustic features (such as pitch, energy, MFCC, and pauses) and linguistic features (such as embeddings and sentiment) are extracted.</a:t>
            </a:r>
          </a:p>
          <a:p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Gill Sans MT" panose="020B0502020104020203" pitchFamily="34" charset="0"/>
              </a:rPr>
              <a:t>These phase-wise features are then combined to form a structured dataset, which is used to train machine learning models for depression classification.</a:t>
            </a:r>
          </a:p>
          <a:p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Gill Sans MT" panose="020B0502020104020203" pitchFamily="34" charset="0"/>
              </a:rPr>
              <a:t>This approach enables a more detailed and dynamic analysis of behavioral patterns across the conversation.</a:t>
            </a:r>
            <a:endParaRPr lang="en-IN" sz="1400" dirty="0">
              <a:latin typeface="Gill Sans MT" panose="020B0502020104020203" pitchFamily="34" charset="0"/>
            </a:endParaRPr>
          </a:p>
        </p:txBody>
      </p:sp>
      <p:sp>
        <p:nvSpPr>
          <p:cNvPr id="29" name="TextShape 1">
            <a:extLst>
              <a:ext uri="{FF2B5EF4-FFF2-40B4-BE49-F238E27FC236}">
                <a16:creationId xmlns:a16="http://schemas.microsoft.com/office/drawing/2014/main" id="{8E5B493D-2CFE-9050-3B2C-42FBFDEA7671}"/>
              </a:ext>
            </a:extLst>
          </p:cNvPr>
          <p:cNvSpPr txBox="1"/>
          <p:nvPr/>
        </p:nvSpPr>
        <p:spPr>
          <a:xfrm>
            <a:off x="539552" y="-164554"/>
            <a:ext cx="7416824" cy="55363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kumimoji="0" lang="en-US" sz="20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 </a:t>
            </a:r>
            <a:r>
              <a:rPr lang="en-US" sz="20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cont.</a:t>
            </a:r>
            <a:endParaRPr kumimoji="0" lang="en-US" sz="20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0" name="TextShape 3">
            <a:extLst>
              <a:ext uri="{FF2B5EF4-FFF2-40B4-BE49-F238E27FC236}">
                <a16:creationId xmlns:a16="http://schemas.microsoft.com/office/drawing/2014/main" id="{22364426-DB85-A91C-1998-09FE257B3309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9B28A40D-F04D-D641-6888-976D7A05A247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578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2329-4F88-B0E0-0252-E2D8B8F4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1">
            <a:extLst>
              <a:ext uri="{FF2B5EF4-FFF2-40B4-BE49-F238E27FC236}">
                <a16:creationId xmlns:a16="http://schemas.microsoft.com/office/drawing/2014/main" id="{B75BDA93-5D82-AD84-122D-EA2CC6BA9406}"/>
              </a:ext>
            </a:extLst>
          </p:cNvPr>
          <p:cNvSpPr txBox="1"/>
          <p:nvPr/>
        </p:nvSpPr>
        <p:spPr>
          <a:xfrm>
            <a:off x="391036" y="21629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Dataset &amp; Tools/Technologies</a:t>
            </a:r>
          </a:p>
        </p:txBody>
      </p:sp>
      <p:sp>
        <p:nvSpPr>
          <p:cNvPr id="7" name="TextShape 2">
            <a:extLst>
              <a:ext uri="{FF2B5EF4-FFF2-40B4-BE49-F238E27FC236}">
                <a16:creationId xmlns:a16="http://schemas.microsoft.com/office/drawing/2014/main" id="{D5D77F2E-240A-9D48-A216-60E396DE6249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lvl="0">
              <a:defRPr/>
            </a:pP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Dataset Used:</a:t>
            </a:r>
          </a:p>
          <a:p>
            <a:pPr lvl="0">
              <a:defRPr/>
            </a:pPr>
            <a:endParaRPr lang="en-US" sz="1400" spc="-1" dirty="0">
              <a:solidFill>
                <a:srgbClr val="000000"/>
              </a:solidFill>
              <a:latin typeface="Gill Sans MT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 smtClean="0">
                <a:solidFill>
                  <a:srgbClr val="000000"/>
                </a:solidFill>
                <a:latin typeface="Gill Sans MT"/>
              </a:rPr>
              <a:t>DAIC-WOZ </a:t>
            </a: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(Distress Analysis Interview Corpus)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 smtClean="0">
                <a:solidFill>
                  <a:srgbClr val="000000"/>
                </a:solidFill>
                <a:latin typeface="Gill Sans MT"/>
              </a:rPr>
              <a:t>Clinical </a:t>
            </a: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interview-based dataset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 smtClean="0">
                <a:solidFill>
                  <a:srgbClr val="000000"/>
                </a:solidFill>
                <a:latin typeface="Gill Sans MT"/>
              </a:rPr>
              <a:t>Contains </a:t>
            </a: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audio, transcripts, and depression labels</a:t>
            </a:r>
          </a:p>
          <a:p>
            <a:pPr lvl="0">
              <a:defRPr/>
            </a:pPr>
            <a:endParaRPr lang="en-US" sz="1400" spc="-1" dirty="0">
              <a:solidFill>
                <a:srgbClr val="000000"/>
              </a:solidFill>
              <a:latin typeface="Gill Sans MT"/>
            </a:endParaRPr>
          </a:p>
          <a:p>
            <a:pPr lvl="0">
              <a:defRPr/>
            </a:pP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Tools &amp; Technologies:</a:t>
            </a:r>
          </a:p>
          <a:p>
            <a:pPr lvl="0">
              <a:defRPr/>
            </a:pPr>
            <a:endParaRPr lang="en-US" sz="1400" spc="-1" dirty="0">
              <a:solidFill>
                <a:srgbClr val="000000"/>
              </a:solidFill>
              <a:latin typeface="Gill Sans MT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 smtClean="0">
                <a:solidFill>
                  <a:srgbClr val="000000"/>
                </a:solidFill>
                <a:latin typeface="Gill Sans MT"/>
              </a:rPr>
              <a:t>Python</a:t>
            </a:r>
            <a:endParaRPr lang="en-US" sz="1400" spc="-1" dirty="0">
              <a:solidFill>
                <a:srgbClr val="000000"/>
              </a:solidFill>
              <a:latin typeface="Gill Sans MT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 err="1" smtClean="0">
                <a:solidFill>
                  <a:srgbClr val="000000"/>
                </a:solidFill>
                <a:latin typeface="Gill Sans MT"/>
              </a:rPr>
              <a:t>Librosa</a:t>
            </a:r>
            <a:r>
              <a:rPr lang="en-US" sz="1400" spc="-1" dirty="0" smtClean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and </a:t>
            </a:r>
            <a:r>
              <a:rPr lang="en-US" sz="1400" spc="-1" dirty="0" err="1">
                <a:solidFill>
                  <a:srgbClr val="000000"/>
                </a:solidFill>
                <a:latin typeface="Gill Sans MT"/>
              </a:rPr>
              <a:t>parselmouth</a:t>
            </a: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 (audio processing)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 smtClean="0">
                <a:solidFill>
                  <a:srgbClr val="000000"/>
                </a:solidFill>
                <a:latin typeface="Gill Sans MT"/>
              </a:rPr>
              <a:t>Pandas</a:t>
            </a: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, NumPy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 err="1" smtClean="0">
                <a:solidFill>
                  <a:srgbClr val="000000"/>
                </a:solidFill>
                <a:latin typeface="Gill Sans MT"/>
              </a:rPr>
              <a:t>Scikit</a:t>
            </a:r>
            <a:r>
              <a:rPr lang="en-US" sz="1400" spc="-1" dirty="0" smtClean="0">
                <a:solidFill>
                  <a:srgbClr val="000000"/>
                </a:solidFill>
                <a:latin typeface="Gill Sans MT"/>
              </a:rPr>
              <a:t>-learn</a:t>
            </a:r>
            <a:endParaRPr lang="en-US" sz="1400" spc="-1" dirty="0">
              <a:solidFill>
                <a:srgbClr val="000000"/>
              </a:solidFill>
              <a:latin typeface="Gill Sans MT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 smtClean="0">
                <a:solidFill>
                  <a:srgbClr val="000000"/>
                </a:solidFill>
                <a:latin typeface="Gill Sans MT"/>
              </a:rPr>
              <a:t>Sentence-BERT </a:t>
            </a: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(SBERT)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spc="-1" dirty="0" smtClean="0">
                <a:solidFill>
                  <a:srgbClr val="000000"/>
                </a:solidFill>
                <a:latin typeface="Gill Sans MT"/>
              </a:rPr>
              <a:t>VADER </a:t>
            </a:r>
            <a:r>
              <a:rPr lang="en-US" sz="1400" spc="-1" dirty="0">
                <a:solidFill>
                  <a:srgbClr val="000000"/>
                </a:solidFill>
                <a:latin typeface="Gill Sans MT"/>
              </a:rPr>
              <a:t>Sentiment Analysis</a:t>
            </a:r>
            <a:endParaRPr kumimoji="0" lang="en-US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TextShape 3">
            <a:extLst>
              <a:ext uri="{FF2B5EF4-FFF2-40B4-BE49-F238E27FC236}">
                <a16:creationId xmlns:a16="http://schemas.microsoft.com/office/drawing/2014/main" id="{0F3DDA0F-0DA3-47C6-4D30-ECE219CAD6E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718E7B4-F5F0-974A-CB78-0CD9F6683CB0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2611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395536" y="199083"/>
            <a:ext cx="8446604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Experimentation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28596" y="706582"/>
            <a:ext cx="8504804" cy="398646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System Specifications: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spc="-1" dirty="0" smtClean="0">
                <a:solidFill>
                  <a:srgbClr val="000000"/>
                </a:solidFill>
                <a:latin typeface="Gill Sans MT"/>
              </a:rPr>
              <a:t>Hardware Specifications: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spc="-1" dirty="0" smtClean="0">
                <a:solidFill>
                  <a:srgbClr val="000000"/>
                </a:solidFill>
                <a:latin typeface="Gill Sans MT"/>
              </a:rPr>
              <a:t>Software Specifications: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6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667649"/>
              </p:ext>
            </p:extLst>
          </p:nvPr>
        </p:nvGraphicFramePr>
        <p:xfrm>
          <a:off x="457200" y="1530928"/>
          <a:ext cx="8229600" cy="12568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04691967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595843301"/>
                    </a:ext>
                  </a:extLst>
                </a:gridCol>
              </a:tblGrid>
              <a:tr h="2094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Component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Specification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7346122"/>
                  </a:ext>
                </a:extLst>
              </a:tr>
              <a:tr h="2094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Processor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Intel Core i5-1235U (12th Gen)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56284026"/>
                  </a:ext>
                </a:extLst>
              </a:tr>
              <a:tr h="2094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RAM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16 GB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60871415"/>
                  </a:ext>
                </a:extLst>
              </a:tr>
              <a:tr h="2094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 dirty="0">
                          <a:effectLst/>
                        </a:rPr>
                        <a:t>GPU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NVIDIA GeForce MX550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0980769"/>
                  </a:ext>
                </a:extLst>
              </a:tr>
              <a:tr h="2094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Operating System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 dirty="0">
                          <a:effectLst/>
                        </a:rPr>
                        <a:t>Windows 11 Home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1008660"/>
                  </a:ext>
                </a:extLst>
              </a:tr>
              <a:tr h="2094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 dirty="0">
                          <a:effectLst/>
                        </a:rPr>
                        <a:t>System Type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 dirty="0">
                          <a:effectLst/>
                        </a:rPr>
                        <a:t>64-bit Operating System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17776949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003840"/>
              </p:ext>
            </p:extLst>
          </p:nvPr>
        </p:nvGraphicFramePr>
        <p:xfrm>
          <a:off x="457200" y="3219822"/>
          <a:ext cx="8229600" cy="17047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64664824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369978643"/>
                    </a:ext>
                  </a:extLst>
                </a:gridCol>
              </a:tblGrid>
              <a:tr h="689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Software / Tool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Purpose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7266337"/>
                  </a:ext>
                </a:extLst>
              </a:tr>
              <a:tr h="689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Python 3.12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Core implementation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95554625"/>
                  </a:ext>
                </a:extLst>
              </a:tr>
              <a:tr h="689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Jupyter Notebook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Experimentation environment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05217501"/>
                  </a:ext>
                </a:extLst>
              </a:tr>
              <a:tr h="689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Librosa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Audio feature extraction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84241137"/>
                  </a:ext>
                </a:extLst>
              </a:tr>
              <a:tr h="689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Parselmouth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Speech signal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36708021"/>
                  </a:ext>
                </a:extLst>
              </a:tr>
              <a:tr h="689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Sentence-BERT (SBERT)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Semantic text embeddings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65569807"/>
                  </a:ext>
                </a:extLst>
              </a:tr>
              <a:tr h="689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Scikit-learn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Machine learning models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6491754"/>
                  </a:ext>
                </a:extLst>
              </a:tr>
              <a:tr h="689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Pandas &amp; NumPy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Data handling and preprocessing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04475186"/>
                  </a:ext>
                </a:extLst>
              </a:tr>
              <a:tr h="689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>
                          <a:effectLst/>
                        </a:rPr>
                        <a:t>Matplotlib &amp; Seaborn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 dirty="0">
                          <a:effectLst/>
                        </a:rPr>
                        <a:t>Visualization and plotting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74165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287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57200" y="411510"/>
            <a:ext cx="8504804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spc="-1" dirty="0" smtClean="0">
                <a:solidFill>
                  <a:srgbClr val="000000"/>
                </a:solidFill>
                <a:latin typeface="Gill Sans MT"/>
              </a:rPr>
              <a:t>Experimental Analysis: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Gill Sans MT" panose="020B0502020104020203" pitchFamily="34" charset="0"/>
              </a:rPr>
              <a:t>The experimental results clearly demonstrate that the multimodal approach consistently achieved better classification performance compared to text-only and audio-only models across all conversational phases. </a:t>
            </a:r>
            <a:endParaRPr lang="en-US" sz="1400" dirty="0" smtClean="0"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latin typeface="Gill Sans MT" panose="020B0502020104020203" pitchFamily="34" charset="0"/>
              </a:rPr>
              <a:t>By </a:t>
            </a:r>
            <a:r>
              <a:rPr lang="en-US" sz="1400" dirty="0">
                <a:latin typeface="Gill Sans MT" panose="020B0502020104020203" pitchFamily="34" charset="0"/>
              </a:rPr>
              <a:t>combining both audio and linguistic information, the multimodal framework was able to capture complementary behavioral patterns associated with depression more effectively. </a:t>
            </a:r>
            <a:endParaRPr lang="en-US" sz="1400" dirty="0" smtClean="0"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latin typeface="Gill Sans MT" panose="020B0502020104020203" pitchFamily="34" charset="0"/>
              </a:rPr>
              <a:t>The </a:t>
            </a:r>
            <a:r>
              <a:rPr lang="en-US" sz="1400" dirty="0">
                <a:latin typeface="Gill Sans MT" panose="020B0502020104020203" pitchFamily="34" charset="0"/>
              </a:rPr>
              <a:t>text-only models primarily captured semantic and emotional information from participant transcripts, while the audio-only models focused on acoustic characteristics such as pitch, pauses, energy variation, and speaking rate. However, each individual modality contained limited behavioral information when used independently. </a:t>
            </a:r>
            <a:endParaRPr lang="en-US" sz="1400" dirty="0" smtClean="0"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latin typeface="Gill Sans MT" panose="020B0502020104020203" pitchFamily="34" charset="0"/>
              </a:rPr>
              <a:t>In </a:t>
            </a:r>
            <a:r>
              <a:rPr lang="en-US" sz="1400" dirty="0">
                <a:latin typeface="Gill Sans MT" panose="020B0502020104020203" pitchFamily="34" charset="0"/>
              </a:rPr>
              <a:t>contrast, the multimodal framework integrated both vocal and linguistic cues, allowing the classifiers to learn richer and more discriminative behavioral representations. </a:t>
            </a:r>
            <a:endParaRPr lang="en-US" sz="1400" dirty="0" smtClean="0"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latin typeface="Gill Sans MT" panose="020B0502020104020203" pitchFamily="34" charset="0"/>
              </a:rPr>
              <a:t>This </a:t>
            </a:r>
            <a:r>
              <a:rPr lang="en-US" sz="1400" dirty="0">
                <a:latin typeface="Gill Sans MT" panose="020B0502020104020203" pitchFamily="34" charset="0"/>
              </a:rPr>
              <a:t>fusion significantly improved model robustness, classification stability, and overall prediction capability. Among all conversational phases, Phase 1 consistently achieved the highest accuracy across most models in the multimodal experiments. </a:t>
            </a:r>
            <a:endParaRPr lang="en-US" sz="1400" dirty="0" smtClean="0"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latin typeface="Gill Sans MT" panose="020B0502020104020203" pitchFamily="34" charset="0"/>
              </a:rPr>
              <a:t>This </a:t>
            </a:r>
            <a:r>
              <a:rPr lang="en-US" sz="1400" dirty="0">
                <a:latin typeface="Gill Sans MT" panose="020B0502020104020203" pitchFamily="34" charset="0"/>
              </a:rPr>
              <a:t>indicates that the beginning stage of the interview contains stronger and more distinguishable depression-related cues.</a:t>
            </a:r>
            <a:endParaRPr lang="en-US" sz="1400" spc="-1" dirty="0" smtClean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spc="-1" dirty="0" smtClean="0">
                <a:solidFill>
                  <a:srgbClr val="000000"/>
                </a:solidFill>
                <a:latin typeface="Gill Sans MT"/>
              </a:rPr>
              <a:t> </a:t>
            </a:r>
            <a:endParaRPr lang="en-US" sz="1600" b="1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9438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57200" y="411510"/>
            <a:ext cx="8504804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spc="-1" dirty="0" smtClean="0">
                <a:solidFill>
                  <a:srgbClr val="000000"/>
                </a:solidFill>
                <a:latin typeface="Gill Sans MT"/>
              </a:rPr>
              <a:t> </a:t>
            </a:r>
            <a:endParaRPr lang="en-US" sz="1600" b="1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15566"/>
            <a:ext cx="8136904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67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57200" y="411510"/>
            <a:ext cx="8504804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spc="-1" dirty="0" smtClean="0">
                <a:solidFill>
                  <a:srgbClr val="000000"/>
                </a:solidFill>
                <a:latin typeface="Gill Sans MT"/>
              </a:rPr>
              <a:t> </a:t>
            </a:r>
            <a:endParaRPr lang="en-US" sz="1600" b="1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5566"/>
            <a:ext cx="8156520" cy="381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122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57200" y="411510"/>
            <a:ext cx="8504804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spc="-1" dirty="0" smtClean="0">
                <a:solidFill>
                  <a:srgbClr val="000000"/>
                </a:solidFill>
                <a:latin typeface="Gill Sans MT"/>
              </a:rPr>
              <a:t> </a:t>
            </a:r>
            <a:endParaRPr lang="en-US" sz="1600" b="1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15566"/>
            <a:ext cx="8218184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88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57200" y="411510"/>
            <a:ext cx="8504804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lvl="0">
              <a:defRPr/>
            </a:pPr>
            <a:r>
              <a:rPr lang="en-US" sz="1600" b="1" dirty="0"/>
              <a:t>Comparative Performance Analysis of Multimodal </a:t>
            </a:r>
            <a:r>
              <a:rPr lang="en-US" sz="1600" b="1" dirty="0" smtClean="0"/>
              <a:t>Models:</a:t>
            </a:r>
          </a:p>
          <a:p>
            <a:pPr lvl="0"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Gill Sans MT" panose="020B0502020104020203" pitchFamily="34" charset="0"/>
              </a:rPr>
              <a:t>The proposed multimodal framework was evaluated using multiple machine learning models across three conversational phases of the DAIC-WOZ interviews. Performance was measured using Accuracy, Precision, Recall, and F1-score. </a:t>
            </a:r>
            <a:endParaRPr lang="en-US" sz="1400" dirty="0"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latin typeface="Gill Sans MT" panose="020B0502020104020203" pitchFamily="34" charset="0"/>
              </a:rPr>
              <a:t>Among </a:t>
            </a:r>
            <a:r>
              <a:rPr lang="en-US" sz="1400" dirty="0">
                <a:latin typeface="Gill Sans MT" panose="020B0502020104020203" pitchFamily="34" charset="0"/>
              </a:rPr>
              <a:t>all models, the Random Forest classifier achieved the best overall performance in Phase 1 with an accuracy of 83.89% and recall of 0.8889, indicating strong depression detection capability during the initial conversational stage</a:t>
            </a:r>
            <a:r>
              <a:rPr lang="en-US" sz="1400" dirty="0" smtClean="0">
                <a:latin typeface="Gill Sans MT" panose="020B0502020104020203" pitchFamily="34" charset="0"/>
              </a:rPr>
              <a:t>.</a:t>
            </a:r>
          </a:p>
          <a:p>
            <a:pPr lvl="0">
              <a:defRPr/>
            </a:pPr>
            <a:endParaRPr lang="en-US" sz="1400" b="1" spc="-1" dirty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2" name="AutoShape 2" descr="blob:https://web.whatsapp.com/605fb86f-ef1d-4abe-bf69-c1a421eb83b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1862" t="4485" r="1737" b="4827"/>
          <a:stretch/>
        </p:blipFill>
        <p:spPr>
          <a:xfrm>
            <a:off x="607720" y="2283718"/>
            <a:ext cx="7992889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02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57200" y="411510"/>
            <a:ext cx="8504804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lvl="0">
              <a:defRPr/>
            </a:pPr>
            <a:r>
              <a:rPr lang="en-US" sz="1600" b="1" dirty="0" smtClean="0"/>
              <a:t>Phase-Wise Depression Analysis:</a:t>
            </a:r>
          </a:p>
          <a:p>
            <a:pPr lvl="0">
              <a:defRPr/>
            </a:pPr>
            <a:endParaRPr lang="en-US" sz="1400" b="1" spc="-1" dirty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2" name="AutoShape 2" descr="blob:https://web.whatsapp.com/605fb86f-ef1d-4abe-bf69-c1a421eb83b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00" y="987574"/>
            <a:ext cx="8098924" cy="378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17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57200" y="411510"/>
            <a:ext cx="8504804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lvl="0">
              <a:defRPr/>
            </a:pPr>
            <a:endParaRPr lang="en-US" sz="1600" b="1" dirty="0" smtClean="0"/>
          </a:p>
          <a:p>
            <a:pPr lvl="0">
              <a:defRPr/>
            </a:pPr>
            <a:endParaRPr lang="en-US" sz="1400" b="1" spc="-1" dirty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2" name="AutoShape 2" descr="blob:https://web.whatsapp.com/605fb86f-ef1d-4abe-bf69-c1a421eb83b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5566"/>
            <a:ext cx="8075240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2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57200" y="411510"/>
            <a:ext cx="8504804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lvl="0">
              <a:defRPr/>
            </a:pPr>
            <a:endParaRPr lang="en-US" sz="1600" b="1" dirty="0" smtClean="0"/>
          </a:p>
          <a:p>
            <a:pPr lvl="0">
              <a:defRPr/>
            </a:pPr>
            <a:endParaRPr lang="en-US" sz="1400" b="1" spc="-1" dirty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2" name="AutoShape 2" descr="blob:https://web.whatsapp.com/605fb86f-ef1d-4abe-bf69-c1a421eb83b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5566"/>
            <a:ext cx="8075240" cy="378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05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57200" y="458728"/>
            <a:ext cx="8504804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spc="-1" dirty="0" smtClean="0">
                <a:solidFill>
                  <a:srgbClr val="000000"/>
                </a:solidFill>
                <a:latin typeface="Gill Sans MT"/>
              </a:rPr>
              <a:t> </a:t>
            </a:r>
            <a:endParaRPr lang="en-US" sz="1600" b="1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457200" y="586591"/>
            <a:ext cx="78592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phase-wise experimental results show that Phase 1 consistently achieved the highest classification accuracy across all three approaches. </a:t>
            </a:r>
            <a:endParaRPr lang="en-IN" sz="1400" dirty="0" smtClean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dirty="0" smtClean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IN" sz="14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text-only framework, Phase 1 produced the strongest performance, indicating that early conversational language patterns contain significant semantic and emotional indicators of depression. </a:t>
            </a:r>
            <a:endParaRPr lang="en-IN" sz="1400" dirty="0" smtClean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dirty="0" smtClean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Similarly</a:t>
            </a:r>
            <a:r>
              <a:rPr lang="en-IN" sz="14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the audio-only framework achieved better performance during the beginning stage, suggesting that initial vocal </a:t>
            </a:r>
            <a:r>
              <a:rPr lang="en-IN" sz="1400" dirty="0" err="1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behavior</a:t>
            </a:r>
            <a:r>
              <a:rPr lang="en-IN" sz="14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contains distinguishable acoustic cues such as hesitation, reduced confidence, abnormal pauses, and lower vocal variability</a:t>
            </a:r>
            <a:r>
              <a:rPr lang="en-IN" sz="14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IN" sz="1400" dirty="0" smtClean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multimodal framework achieved the best overall performance among all approaches by combining audio and textual behavioural information. </a:t>
            </a:r>
          </a:p>
          <a:p>
            <a:endParaRPr lang="en-IN" sz="1400" dirty="0" smtClean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multimodal model maintained consistently higher accuracy across all phases demonstrating that integrating complementary modalities improves classifications robustness and behavioural understanding.</a:t>
            </a:r>
          </a:p>
          <a:p>
            <a:endParaRPr lang="en-IN" sz="1400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09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539552" y="519233"/>
            <a:ext cx="7496692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spc="-1" dirty="0" smtClean="0">
                <a:solidFill>
                  <a:srgbClr val="000000"/>
                </a:solidFill>
                <a:latin typeface="Gill Sans MT"/>
              </a:rPr>
              <a:t> </a:t>
            </a:r>
            <a:endParaRPr lang="en-US" sz="1600" b="1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457200" y="586591"/>
            <a:ext cx="78592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Gill Sans MT" panose="020B0502020104020203" pitchFamily="34" charset="0"/>
              </a:rPr>
              <a:t>Performance Analysis:</a:t>
            </a:r>
          </a:p>
          <a:p>
            <a:endParaRPr lang="en-US" sz="1600" b="1" dirty="0" smtClean="0">
              <a:latin typeface="Gill Sans MT" panose="020B0502020104020203" pitchFamily="34" charset="0"/>
            </a:endParaRPr>
          </a:p>
          <a:p>
            <a:endParaRPr lang="en-US" sz="1600" b="1" dirty="0">
              <a:latin typeface="Gill Sans MT" panose="020B05020201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5566"/>
            <a:ext cx="7716632" cy="2705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ROC-AUC curves and confusion matrix analyses presented in this study were generated using the proposed multimodal Random Forest classification model. </a:t>
            </a:r>
            <a:endParaRPr lang="en-IN" sz="1400" kern="100" dirty="0" smtClean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was trained using fused audio and linguistic features extracted from different conversational phases of the DAIC-WOZ interviews. </a:t>
            </a:r>
            <a:endParaRPr lang="en-IN" sz="1400" kern="100" dirty="0" smtClean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Audio-based </a:t>
            </a:r>
            <a:r>
              <a:rPr lang="en-IN" sz="1400" kern="100" dirty="0" err="1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behavioral</a:t>
            </a: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cues such as MFCC, pitch, pauses, and spectral characteristics were combined with text-based semantic and sentiment features to form a unified multimodal feature representation. </a:t>
            </a:r>
            <a:endParaRPr lang="en-IN" sz="1400" kern="100" dirty="0" smtClean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 classifier was then evaluated separately on the beginning, middle, and ending conversational phases to </a:t>
            </a:r>
            <a:r>
              <a:rPr lang="en-IN" sz="1400" kern="100" dirty="0" err="1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</a:t>
            </a: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how depression-related </a:t>
            </a:r>
            <a:r>
              <a:rPr lang="en-IN" sz="1400" kern="100" dirty="0" err="1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behavioral</a:t>
            </a: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patterns vary across different stages of interaction.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588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539552" y="519233"/>
            <a:ext cx="7496692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spc="-1" dirty="0" smtClean="0">
                <a:solidFill>
                  <a:srgbClr val="000000"/>
                </a:solidFill>
                <a:latin typeface="Gill Sans MT"/>
              </a:rPr>
              <a:t> </a:t>
            </a:r>
            <a:endParaRPr lang="en-US" sz="1600" b="1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457200" y="586591"/>
            <a:ext cx="78592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b="1" dirty="0" smtClean="0">
              <a:latin typeface="Gill Sans MT" panose="020B0502020104020203" pitchFamily="34" charset="0"/>
            </a:endParaRPr>
          </a:p>
          <a:p>
            <a:endParaRPr lang="en-US" sz="1600" b="1" dirty="0" smtClean="0">
              <a:latin typeface="Gill Sans MT" panose="020B0502020104020203" pitchFamily="34" charset="0"/>
            </a:endParaRPr>
          </a:p>
          <a:p>
            <a:endParaRPr lang="en-US" sz="1600" b="1" dirty="0">
              <a:latin typeface="Gill Sans MT" panose="020B05020201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519233"/>
            <a:ext cx="7931224" cy="314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b="1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1 Analysis :</a:t>
            </a:r>
            <a:r>
              <a:rPr lang="en-IN" sz="1400" b="1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400" kern="100" dirty="0" smtClean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</a:t>
            </a: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achieved the best overall performance among all conversational stages. The model successfully identified most depressed participants with only one false negative, indicating strong sensitivity toward depression-related </a:t>
            </a:r>
            <a:r>
              <a:rPr lang="en-IN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behavioural </a:t>
            </a: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cues during the initial interaction stage.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suggests that early conversational </a:t>
            </a:r>
            <a:r>
              <a:rPr lang="en-IN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behaviour </a:t>
            </a: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may contain strong indicators such as: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hesitation 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reduced confidence 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constrained emotional expression 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abnormal speech characteristics 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 help improve classification performance.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283" y="2093510"/>
            <a:ext cx="4108313" cy="278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615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539552" y="519233"/>
            <a:ext cx="7496692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spc="-1" dirty="0" smtClean="0">
                <a:solidFill>
                  <a:srgbClr val="000000"/>
                </a:solidFill>
                <a:latin typeface="Gill Sans MT"/>
              </a:rPr>
              <a:t> </a:t>
            </a:r>
            <a:endParaRPr lang="en-US" sz="1600" b="1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457200" y="586591"/>
            <a:ext cx="78592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b="1" dirty="0" smtClean="0">
              <a:latin typeface="Gill Sans MT" panose="020B0502020104020203" pitchFamily="34" charset="0"/>
            </a:endParaRPr>
          </a:p>
          <a:p>
            <a:endParaRPr lang="en-US" sz="1600" b="1" dirty="0" smtClean="0">
              <a:latin typeface="Gill Sans MT" panose="020B0502020104020203" pitchFamily="34" charset="0"/>
            </a:endParaRPr>
          </a:p>
          <a:p>
            <a:endParaRPr lang="en-US" sz="1600" b="1" dirty="0">
              <a:latin typeface="Gill Sans MT" panose="020B05020201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519233"/>
            <a:ext cx="7931224" cy="674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b="1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2 Analysis :</a:t>
            </a:r>
            <a:r>
              <a:rPr lang="en-IN" sz="1400" b="1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400" kern="100" dirty="0" smtClean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7544" y="1059582"/>
            <a:ext cx="43204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2 maintained relatively stable classification performance but showed a slight reduction in depression detection capability compared to Phase 1. The increase in false negatives suggests that some depression-related </a:t>
            </a:r>
            <a:r>
              <a:rPr lang="en-IN" sz="1400" dirty="0" err="1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behavioral</a:t>
            </a:r>
            <a:r>
              <a:rPr lang="en-IN" sz="14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patterns became less distinguishable during the middle stage of the conversation.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pic>
        <p:nvPicPr>
          <p:cNvPr id="12" name="Picture 1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102" y="966702"/>
            <a:ext cx="3672408" cy="245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413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539552" y="519233"/>
            <a:ext cx="7496692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spc="-1" dirty="0" smtClean="0">
                <a:solidFill>
                  <a:srgbClr val="000000"/>
                </a:solidFill>
                <a:latin typeface="Gill Sans MT"/>
              </a:rPr>
              <a:t> </a:t>
            </a:r>
            <a:endParaRPr lang="en-US" sz="1600" b="1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457200" y="586591"/>
            <a:ext cx="78592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b="1" dirty="0" smtClean="0">
              <a:latin typeface="Gill Sans MT" panose="020B0502020104020203" pitchFamily="34" charset="0"/>
            </a:endParaRPr>
          </a:p>
          <a:p>
            <a:endParaRPr lang="en-US" sz="1600" b="1" dirty="0" smtClean="0">
              <a:latin typeface="Gill Sans MT" panose="020B0502020104020203" pitchFamily="34" charset="0"/>
            </a:endParaRPr>
          </a:p>
          <a:p>
            <a:endParaRPr lang="en-US" sz="1600" b="1" dirty="0">
              <a:latin typeface="Gill Sans MT" panose="020B05020201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519233"/>
            <a:ext cx="7931224" cy="688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b="1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3 Analysis :</a:t>
            </a:r>
            <a:r>
              <a:rPr lang="en-IN" sz="1400" b="1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400" kern="100" dirty="0" smtClean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7544" y="843558"/>
            <a:ext cx="5976664" cy="3233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3 achieved the weakest depression classification performance. Although the model correctly identified most non-depressed participants, it failed to detect several depressed participants, resulting in a higher number of false negatives.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indicates that depression-related acoustic and linguistic cues became less discriminative during the later stage of the interview.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Possible reasons include: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conversational adaptation 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emotional stabilization 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reduced </a:t>
            </a:r>
            <a:r>
              <a:rPr lang="en-IN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behavioural </a:t>
            </a: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variability 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conversational fatigue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2211710"/>
            <a:ext cx="3816424" cy="241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270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611560" y="586591"/>
            <a:ext cx="7496692" cy="41050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="1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spc="-1" dirty="0" smtClean="0">
              <a:solidFill>
                <a:srgbClr val="000000"/>
              </a:solidFill>
              <a:latin typeface="Gill Sans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spc="-1" dirty="0" smtClean="0">
                <a:solidFill>
                  <a:srgbClr val="000000"/>
                </a:solidFill>
                <a:latin typeface="Gill Sans MT"/>
              </a:rPr>
              <a:t> </a:t>
            </a:r>
            <a:endParaRPr lang="en-US" sz="1600" b="1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457200" y="586591"/>
            <a:ext cx="78592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b="1" dirty="0" smtClean="0">
              <a:latin typeface="Gill Sans MT" panose="020B0502020104020203" pitchFamily="34" charset="0"/>
            </a:endParaRPr>
          </a:p>
          <a:p>
            <a:endParaRPr lang="en-US" sz="1600" b="1" dirty="0" smtClean="0">
              <a:latin typeface="Gill Sans MT" panose="020B0502020104020203" pitchFamily="34" charset="0"/>
            </a:endParaRPr>
          </a:p>
          <a:p>
            <a:endParaRPr lang="en-US" sz="1600" b="1" dirty="0">
              <a:latin typeface="Gill Sans MT" panose="020B0502020104020203" pitchFamily="3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83518"/>
            <a:ext cx="7128792" cy="446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164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457200" y="586591"/>
            <a:ext cx="78592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b="1" dirty="0" smtClean="0">
              <a:latin typeface="Gill Sans MT" panose="020B0502020104020203" pitchFamily="34" charset="0"/>
            </a:endParaRPr>
          </a:p>
          <a:p>
            <a:endParaRPr lang="en-US" sz="1600" b="1" dirty="0" smtClean="0">
              <a:latin typeface="Gill Sans MT" panose="020B0502020104020203" pitchFamily="34" charset="0"/>
            </a:endParaRPr>
          </a:p>
          <a:p>
            <a:endParaRPr lang="en-US" sz="1600" b="1" dirty="0">
              <a:latin typeface="Gill Sans MT" panose="020B05020201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5536" y="411510"/>
            <a:ext cx="7848872" cy="3443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experimental results show that: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1 achieved the highest AUC score of 0.8389, indicating superior classification capability during the initial conversational stage. 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2 obtained an AUC of 0.8222, showing comparatively strong but slightly lower performance. 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3 produced the lowest AUC value of 0.6333, suggesting weaker discriminative </a:t>
            </a:r>
            <a:r>
              <a:rPr lang="en-IN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behavioural </a:t>
            </a: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patterns during later stages of the conversation. 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findings indicate that depression-related acoustic and linguistic cues were more prominent and distinguishable during the beginning phase of the interview. Initial conversational </a:t>
            </a:r>
            <a:r>
              <a:rPr lang="en-IN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behaviour </a:t>
            </a: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such as hesitation, reduced confidence, abnormal pauses, and constrained emotional expression may have contributed to stronger classification performance in Phase 1.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Overall, the ROC analysis validates the effectiveness of phase-wise conversational analysis and demonstrates that early-stage interaction contains significant depression-related </a:t>
            </a:r>
            <a:r>
              <a:rPr lang="en-IN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behavioural </a:t>
            </a:r>
            <a:r>
              <a:rPr lang="en-IN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information.</a:t>
            </a:r>
            <a:endParaRPr lang="en-US" sz="1400" kern="100" dirty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863C-C421-2A24-510A-46BB11F8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A8544B3C-3745-7F17-3D88-C6AC7A2FBBB1}"/>
              </a:ext>
            </a:extLst>
          </p:cNvPr>
          <p:cNvSpPr txBox="1"/>
          <p:nvPr/>
        </p:nvSpPr>
        <p:spPr>
          <a:xfrm>
            <a:off x="480212" y="178301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 smtClean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Conclusion and Future Scope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B231A21-3973-0F3D-E76C-E46B41FE71A7}"/>
              </a:ext>
            </a:extLst>
          </p:cNvPr>
          <p:cNvSpPr txBox="1"/>
          <p:nvPr/>
        </p:nvSpPr>
        <p:spPr>
          <a:xfrm>
            <a:off x="428596" y="1049136"/>
            <a:ext cx="8504804" cy="365083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E646920-2BA3-24E7-7837-F09BDE116DC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2A02815-AF57-59B6-A150-19EF68B8681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480212" y="843558"/>
            <a:ext cx="8133508" cy="32764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r>
              <a:rPr lang="en-US" sz="1600" b="1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600" b="1" kern="100" dirty="0" smtClean="0"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multimodal depression detection framework using speech and linguistic behavior analysis was proposed</a:t>
            </a:r>
            <a:r>
              <a:rPr lang="en-US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en-US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interview was divided into beginning, middle, and ending conversational phases to analyze temporal behavioral variations</a:t>
            </a:r>
            <a:r>
              <a:rPr lang="en-US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Audio </a:t>
            </a:r>
            <a:r>
              <a:rPr lang="en-US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features and textual semantic features were extracted and combined using multimodal fusion</a:t>
            </a:r>
            <a:r>
              <a:rPr lang="en-US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</a:t>
            </a:r>
            <a:r>
              <a:rPr lang="en-US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models such as SVM, Random Forest, and </a:t>
            </a:r>
            <a:r>
              <a:rPr lang="en-US" sz="1400" kern="100" dirty="0" err="1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XGBoost</a:t>
            </a:r>
            <a:r>
              <a:rPr lang="en-US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were evaluated for depression classification</a:t>
            </a:r>
            <a:r>
              <a:rPr lang="en-US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 </a:t>
            </a:r>
            <a:r>
              <a:rPr lang="en-US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results showed that multimodal analysis improved classification performance</a:t>
            </a:r>
            <a:r>
              <a:rPr lang="en-US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Phase </a:t>
            </a:r>
            <a:r>
              <a:rPr lang="en-US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achieved the highest accuracy, indicating stronger depression-related cues during the initial stage of conversation</a:t>
            </a:r>
            <a:r>
              <a:rPr lang="en-US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1400" kern="1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proposed framework effectively captured behavioral patterns associated with depression</a:t>
            </a:r>
            <a:r>
              <a:rPr lang="en-US" sz="1400" kern="100" dirty="0" smtClean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4048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863C-C421-2A24-510A-46BB11F8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A8544B3C-3745-7F17-3D88-C6AC7A2FBBB1}"/>
              </a:ext>
            </a:extLst>
          </p:cNvPr>
          <p:cNvSpPr txBox="1"/>
          <p:nvPr/>
        </p:nvSpPr>
        <p:spPr>
          <a:xfrm>
            <a:off x="480212" y="178301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 smtClean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Conclusion and Future Scope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B231A21-3973-0F3D-E76C-E46B41FE71A7}"/>
              </a:ext>
            </a:extLst>
          </p:cNvPr>
          <p:cNvSpPr txBox="1"/>
          <p:nvPr/>
        </p:nvSpPr>
        <p:spPr>
          <a:xfrm>
            <a:off x="428596" y="1049136"/>
            <a:ext cx="8504804" cy="365083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E646920-2BA3-24E7-7837-F09BDE116DC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2A02815-AF57-59B6-A150-19EF68B8681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480212" y="843558"/>
            <a:ext cx="8133508" cy="2021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kern="100" dirty="0" smtClean="0">
                <a:latin typeface="Gill Sans MT" panose="020B0502020104020203" pitchFamily="34" charset="0"/>
                <a:cs typeface="Times New Roman" panose="02020603050405020304" pitchFamily="18" charset="0"/>
              </a:rPr>
              <a:t>Future Scope: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latin typeface="Gill Sans MT" panose="020B0502020104020203" pitchFamily="34" charset="0"/>
              </a:rPr>
              <a:t>Integration of advanced deep learning models such as </a:t>
            </a:r>
            <a:r>
              <a:rPr lang="en-US" sz="1400" dirty="0" err="1">
                <a:latin typeface="Gill Sans MT" panose="020B0502020104020203" pitchFamily="34" charset="0"/>
              </a:rPr>
              <a:t>BiLSTM</a:t>
            </a:r>
            <a:r>
              <a:rPr lang="en-US" sz="1400" dirty="0">
                <a:latin typeface="Gill Sans MT" panose="020B0502020104020203" pitchFamily="34" charset="0"/>
              </a:rPr>
              <a:t> and Transformers</a:t>
            </a:r>
            <a:r>
              <a:rPr lang="en-US" sz="1400" dirty="0" smtClean="0"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dirty="0" smtClean="0">
                <a:latin typeface="Gill Sans MT" panose="020B0502020104020203" pitchFamily="34" charset="0"/>
              </a:rPr>
              <a:t>Development </a:t>
            </a:r>
            <a:r>
              <a:rPr lang="en-US" sz="1400" dirty="0">
                <a:latin typeface="Gill Sans MT" panose="020B0502020104020203" pitchFamily="34" charset="0"/>
              </a:rPr>
              <a:t>of real-time depression </a:t>
            </a:r>
            <a:r>
              <a:rPr lang="en-US" sz="1400" dirty="0" smtClean="0">
                <a:latin typeface="Gill Sans MT" panose="020B0502020104020203" pitchFamily="34" charset="0"/>
              </a:rPr>
              <a:t>monitoring </a:t>
            </a:r>
            <a:r>
              <a:rPr lang="en-US" sz="1400" dirty="0">
                <a:latin typeface="Gill Sans MT" panose="020B0502020104020203" pitchFamily="34" charset="0"/>
              </a:rPr>
              <a:t>systems</a:t>
            </a:r>
            <a:r>
              <a:rPr lang="en-US" sz="1400" dirty="0" smtClean="0"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dirty="0" smtClean="0">
                <a:latin typeface="Gill Sans MT" panose="020B0502020104020203" pitchFamily="34" charset="0"/>
              </a:rPr>
              <a:t>Inclusion </a:t>
            </a:r>
            <a:r>
              <a:rPr lang="en-US" sz="1400" dirty="0">
                <a:latin typeface="Gill Sans MT" panose="020B0502020104020203" pitchFamily="34" charset="0"/>
              </a:rPr>
              <a:t>of additional modalities such as facial expressions and physiological signals</a:t>
            </a:r>
            <a:r>
              <a:rPr lang="en-US" sz="1400" dirty="0" smtClean="0"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dirty="0" smtClean="0">
                <a:latin typeface="Gill Sans MT" panose="020B0502020104020203" pitchFamily="34" charset="0"/>
              </a:rPr>
              <a:t>Extension </a:t>
            </a:r>
            <a:r>
              <a:rPr lang="en-US" sz="1400" dirty="0">
                <a:latin typeface="Gill Sans MT" panose="020B0502020104020203" pitchFamily="34" charset="0"/>
              </a:rPr>
              <a:t>to multilingual and cross-cultural datasets</a:t>
            </a:r>
            <a:r>
              <a:rPr lang="en-US" sz="1400" dirty="0" smtClean="0"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dirty="0" smtClean="0">
                <a:latin typeface="Gill Sans MT" panose="020B0502020104020203" pitchFamily="34" charset="0"/>
              </a:rPr>
              <a:t>Deployment </a:t>
            </a:r>
            <a:r>
              <a:rPr lang="en-US" sz="1400" dirty="0">
                <a:latin typeface="Gill Sans MT" panose="020B0502020104020203" pitchFamily="34" charset="0"/>
              </a:rPr>
              <a:t>as a clinical decision-support system for mental health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422213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E4B3ED1-0ED3-570B-5A42-7A5548C02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42" y="284758"/>
            <a:ext cx="8433366" cy="553998"/>
          </a:xfrm>
        </p:spPr>
        <p:txBody>
          <a:bodyPr/>
          <a:lstStyle/>
          <a:p>
            <a:r>
              <a:rPr lang="en-IN" sz="2800" b="1" spc="-1" dirty="0">
                <a:solidFill>
                  <a:srgbClr val="572314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References</a:t>
            </a:r>
            <a:endParaRPr lang="en-US" sz="2800" b="1" spc="-1" dirty="0">
              <a:solidFill>
                <a:srgbClr val="572314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4A3BB72E-7812-663C-7E79-535F3E9B0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042" y="838756"/>
            <a:ext cx="7528350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" panose="020B0604020202020204" pitchFamily="34" charset="0"/>
              </a:rPr>
              <a:t>[1] Y. Guo, C. Zhu, S. Hao, and R. Hong, “A topic-attentive transformer-based model for multimodal depression detection,” </a:t>
            </a:r>
            <a:r>
              <a:rPr lang="en-US" altLang="en-US" sz="1000" dirty="0" err="1">
                <a:latin typeface="Arial" panose="020B0604020202020204" pitchFamily="34" charset="0"/>
              </a:rPr>
              <a:t>arXiv</a:t>
            </a:r>
            <a:r>
              <a:rPr lang="en-US" altLang="en-US" sz="1000" dirty="0">
                <a:latin typeface="Arial" panose="020B0604020202020204" pitchFamily="34" charset="0"/>
              </a:rPr>
              <a:t> preprint arXiv:2206.13256, 2022.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" panose="020B0604020202020204" pitchFamily="34" charset="0"/>
              </a:rPr>
              <a:t>[2] L. Gan, Y. Huang, X. Gao, J. Tan, F. Zhao, and T. Yang, “Multimodal magic: Elevating depression detection with a fusion of text and audio intelligence,” Preprint, 2025.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" panose="020B0604020202020204" pitchFamily="34" charset="0"/>
              </a:rPr>
              <a:t>[3] Y. Gong and C. </a:t>
            </a:r>
            <a:r>
              <a:rPr lang="en-US" altLang="en-US" sz="1000" dirty="0" err="1">
                <a:latin typeface="Arial" panose="020B0604020202020204" pitchFamily="34" charset="0"/>
              </a:rPr>
              <a:t>Poellabauer</a:t>
            </a:r>
            <a:r>
              <a:rPr lang="en-US" altLang="en-US" sz="1000" dirty="0">
                <a:latin typeface="Arial" panose="020B0604020202020204" pitchFamily="34" charset="0"/>
              </a:rPr>
              <a:t>, “Topic modeling based multi-modal depression detection,” in Proc. 7th Annu. Workshop Audio/Visual Emotion Challenge (AVEC ’17), ACM Multimedia, 2017.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" panose="020B0604020202020204" pitchFamily="34" charset="0"/>
              </a:rPr>
              <a:t>[4] M. </a:t>
            </a:r>
            <a:r>
              <a:rPr lang="en-US" altLang="en-US" sz="1000" dirty="0" err="1">
                <a:latin typeface="Arial" panose="020B0604020202020204" pitchFamily="34" charset="0"/>
              </a:rPr>
              <a:t>Nykoniuk</a:t>
            </a:r>
            <a:r>
              <a:rPr lang="en-US" altLang="en-US" sz="1000" dirty="0">
                <a:latin typeface="Arial" panose="020B0604020202020204" pitchFamily="34" charset="0"/>
              </a:rPr>
              <a:t>, O. </a:t>
            </a:r>
            <a:r>
              <a:rPr lang="en-US" altLang="en-US" sz="1000" dirty="0" err="1">
                <a:latin typeface="Arial" panose="020B0604020202020204" pitchFamily="34" charset="0"/>
              </a:rPr>
              <a:t>Basystiuk</a:t>
            </a:r>
            <a:r>
              <a:rPr lang="en-US" altLang="en-US" sz="1000" dirty="0">
                <a:latin typeface="Arial" panose="020B0604020202020204" pitchFamily="34" charset="0"/>
              </a:rPr>
              <a:t>, N. </a:t>
            </a:r>
            <a:r>
              <a:rPr lang="en-US" altLang="en-US" sz="1000" dirty="0" err="1">
                <a:latin typeface="Arial" panose="020B0604020202020204" pitchFamily="34" charset="0"/>
              </a:rPr>
              <a:t>Shakhovska</a:t>
            </a:r>
            <a:r>
              <a:rPr lang="en-US" altLang="en-US" sz="1000" dirty="0">
                <a:latin typeface="Arial" panose="020B0604020202020204" pitchFamily="34" charset="0"/>
              </a:rPr>
              <a:t>, and N. </a:t>
            </a:r>
            <a:r>
              <a:rPr lang="en-US" altLang="en-US" sz="1000" dirty="0" err="1">
                <a:latin typeface="Arial" panose="020B0604020202020204" pitchFamily="34" charset="0"/>
              </a:rPr>
              <a:t>Melnykova</a:t>
            </a:r>
            <a:r>
              <a:rPr lang="en-US" altLang="en-US" sz="1000" dirty="0">
                <a:latin typeface="Arial" panose="020B0604020202020204" pitchFamily="34" charset="0"/>
              </a:rPr>
              <a:t>, “Multimodal data fusion for depression detection approach,” Computation, vol. 13, no. 1, p. 9, 2025.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" panose="020B0604020202020204" pitchFamily="34" charset="0"/>
              </a:rPr>
              <a:t>[5] H. Yoo and H. Oh, “Depression detection model using multimodal deep learning,” Preprints, 2023.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" panose="020B0604020202020204" pitchFamily="34" charset="0"/>
              </a:rPr>
              <a:t>[6] Z. Xu, Y. Gao, F. Wang, L. Zhang, L. Zhang, J. Wang, and J. Shu, “Depression detection methods based on multimodal fusion of voice and text,” Scientific Reports, vol. 15, p. 21907, 2025.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" panose="020B0604020202020204" pitchFamily="34" charset="0"/>
              </a:rPr>
              <a:t>[7] J. Park and N. Moon, “Design and implementation of attention depression detection model based on multimodal analysis,” Sustainability, vol. 14, no. 6, p. 3569, 2022.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Shape 3">
            <a:extLst>
              <a:ext uri="{FF2B5EF4-FFF2-40B4-BE49-F238E27FC236}">
                <a16:creationId xmlns:a16="http://schemas.microsoft.com/office/drawing/2014/main" id="{3B0A59DC-778C-BC2A-008D-FF4D74751C5A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3E70363-D9DE-7604-304E-B8033D029865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30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26" name="Picture 2"/>
          <p:cNvPicPr/>
          <p:nvPr/>
        </p:nvPicPr>
        <p:blipFill>
          <a:blip r:embed="rId2" cstate="print"/>
          <a:stretch/>
        </p:blipFill>
        <p:spPr>
          <a:xfrm>
            <a:off x="1763640" y="1778220"/>
            <a:ext cx="6049800" cy="2215620"/>
          </a:xfrm>
          <a:prstGeom prst="rect">
            <a:avLst/>
          </a:prstGeom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CFD23FDB-7F34-7DAE-BF94-99519F292F5B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8.jpeg"/></Relationships>
</file>

<file path=ppt/theme/theme1.xml><?xml version="1.0" encoding="utf-8"?>
<a:theme xmlns:a="http://schemas.openxmlformats.org/drawingml/2006/main" name="Minimalist Aesthetics Business Plan XL by Slidesgo">
  <a:themeElements>
    <a:clrScheme name="Simple Light">
      <a:dk1>
        <a:srgbClr val="01083A"/>
      </a:dk1>
      <a:lt1>
        <a:srgbClr val="E5E8FF"/>
      </a:lt1>
      <a:dk2>
        <a:srgbClr val="B9C2FF"/>
      </a:dk2>
      <a:lt2>
        <a:srgbClr val="97A4FF"/>
      </a:lt2>
      <a:accent1>
        <a:srgbClr val="2332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8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ustom Design - PresentationGO">
  <a:themeElements>
    <a:clrScheme name="PGO-105">
      <a:dk1>
        <a:srgbClr val="2B323B"/>
      </a:dk1>
      <a:lt1>
        <a:sysClr val="window" lastClr="FFFFFF"/>
      </a:lt1>
      <a:dk2>
        <a:srgbClr val="5D686E"/>
      </a:dk2>
      <a:lt2>
        <a:srgbClr val="E7E6E6"/>
      </a:lt2>
      <a:accent1>
        <a:srgbClr val="33CAFF"/>
      </a:accent1>
      <a:accent2>
        <a:srgbClr val="4C8BFD"/>
      </a:accent2>
      <a:accent3>
        <a:srgbClr val="F6F7FC"/>
      </a:accent3>
      <a:accent4>
        <a:srgbClr val="BFCBD9"/>
      </a:accent4>
      <a:accent5>
        <a:srgbClr val="4C8BFD"/>
      </a:accent5>
      <a:accent6>
        <a:srgbClr val="4C8BFD"/>
      </a:accent6>
      <a:hlink>
        <a:srgbClr val="33CAFF"/>
      </a:hlink>
      <a:folHlink>
        <a:srgbClr val="33CA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78B1EDBC-4A95-4303-94E3-B14C14EBEA23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8E044A80-51C6-4156-9123-ACBB6F9A67F4}"/>
    </a:ext>
  </a:extLst>
</a:theme>
</file>

<file path=ppt/theme/theme6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7198</TotalTime>
  <Words>2384</Words>
  <Application>Microsoft Office PowerPoint</Application>
  <PresentationFormat>On-screen Show (16:9)</PresentationFormat>
  <Paragraphs>372</Paragraphs>
  <Slides>30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30</vt:i4>
      </vt:variant>
    </vt:vector>
  </HeadingPairs>
  <TitlesOfParts>
    <vt:vector size="54" baseType="lpstr">
      <vt:lpstr>Anaheim</vt:lpstr>
      <vt:lpstr>Aptos</vt:lpstr>
      <vt:lpstr>Arial</vt:lpstr>
      <vt:lpstr>Bahnschrift SemiBold</vt:lpstr>
      <vt:lpstr>Bebas Neue</vt:lpstr>
      <vt:lpstr>Calibri</vt:lpstr>
      <vt:lpstr>Calibri Light</vt:lpstr>
      <vt:lpstr>Cardo</vt:lpstr>
      <vt:lpstr>Gill Sans MT</vt:lpstr>
      <vt:lpstr>Josefin Sans</vt:lpstr>
      <vt:lpstr>Open Sans</vt:lpstr>
      <vt:lpstr>Proxima Nova</vt:lpstr>
      <vt:lpstr>Proxima Nova Semibold</vt:lpstr>
      <vt:lpstr>Quicksand</vt:lpstr>
      <vt:lpstr>Roboto Condensed Light</vt:lpstr>
      <vt:lpstr>Symbol</vt:lpstr>
      <vt:lpstr>Times New Roman</vt:lpstr>
      <vt:lpstr>Wingdings</vt:lpstr>
      <vt:lpstr>Minimalist Aesthetics Business Plan XL by Slidesgo</vt:lpstr>
      <vt:lpstr>Slidesgo Final Pages</vt:lpstr>
      <vt:lpstr>1_Slidesgo Final Pages</vt:lpstr>
      <vt:lpstr>1_Custom Design - PresentationGO</vt:lpstr>
      <vt:lpstr>Custom Design</vt:lpstr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BARNALI SAHU</dc:creator>
  <cp:lastModifiedBy>Lenovo</cp:lastModifiedBy>
  <cp:revision>93</cp:revision>
  <dcterms:created xsi:type="dcterms:W3CDTF">2023-04-24T05:50:18Z</dcterms:created>
  <dcterms:modified xsi:type="dcterms:W3CDTF">2026-05-23T16:51:42Z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